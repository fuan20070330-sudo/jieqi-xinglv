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dec6967f144cb8" /><Relationship Type="http://schemas.openxmlformats.org/officeDocument/2006/relationships/extended-properties" Target="/docProps/app.xml" Id="R320d4091f775429c" /><Relationship Type="http://schemas.openxmlformats.org/officeDocument/2006/relationships/officeDocument" Target="/ppt/presentation.xml" Id="R30026dfceeef49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10101e4b0b4daf"/>
  </p:sldMasterIdLst>
  <p:notesMasterIdLst>
    <p:notesMasterId xmlns:r="http://schemas.openxmlformats.org/officeDocument/2006/relationships" r:id="Rc0a78e8c8f9a4a89"/>
  </p:notesMasterIdLst>
  <p:sldIdLst>
    <p:sldId xmlns:r="http://schemas.openxmlformats.org/officeDocument/2006/relationships" id="256" r:id="R8b4450ec09ed457c"/>
    <p:sldId xmlns:r="http://schemas.openxmlformats.org/officeDocument/2006/relationships" id="257" r:id="R6b2fc39998b04e80"/>
    <p:sldId xmlns:r="http://schemas.openxmlformats.org/officeDocument/2006/relationships" id="258" r:id="Rf22576d2e39349fc"/>
    <p:sldId xmlns:r="http://schemas.openxmlformats.org/officeDocument/2006/relationships" id="259" r:id="R3c720503b09b440f"/>
    <p:sldId xmlns:r="http://schemas.openxmlformats.org/officeDocument/2006/relationships" id="260" r:id="R25baac0ec9374bc6"/>
    <p:sldId xmlns:r="http://schemas.openxmlformats.org/officeDocument/2006/relationships" id="261" r:id="Rbe6905b8875748cd"/>
    <p:sldId xmlns:r="http://schemas.openxmlformats.org/officeDocument/2006/relationships" id="262" r:id="R60a4f88b5d5846aa"/>
    <p:sldId xmlns:r="http://schemas.openxmlformats.org/officeDocument/2006/relationships" id="263" r:id="Rec2648f9b5274e2b"/>
    <p:sldId xmlns:r="http://schemas.openxmlformats.org/officeDocument/2006/relationships" id="264" r:id="Rcb242ac588c34df9"/>
    <p:sldId xmlns:r="http://schemas.openxmlformats.org/officeDocument/2006/relationships" id="265" r:id="Ra7a68160c132466d"/>
    <p:sldId xmlns:r="http://schemas.openxmlformats.org/officeDocument/2006/relationships" id="266" r:id="R3a346137528d40d3"/>
    <p:sldId xmlns:r="http://schemas.openxmlformats.org/officeDocument/2006/relationships" id="267" r:id="R71d96a5da6e34e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e23f4026964f7d" /><Relationship Type="http://schemas.openxmlformats.org/officeDocument/2006/relationships/slideMaster" Target="/ppt/slideMasters/slideMaster1.xml" Id="R0d10101e4b0b4daf" /><Relationship Type="http://schemas.openxmlformats.org/officeDocument/2006/relationships/notesMaster" Target="/ppt/notesMasters/notesMaster1.xml" Id="Rc0a78e8c8f9a4a89" /><Relationship Type="http://schemas.openxmlformats.org/officeDocument/2006/relationships/presProps" Target="/ppt/presProps.xml" Id="R5c413754ff2240a8" /><Relationship Type="http://schemas.openxmlformats.org/officeDocument/2006/relationships/tableStyles" Target="/ppt/tableStyles.xml" Id="Rf43ce40c9b7849e3" /><Relationship Type="http://schemas.openxmlformats.org/officeDocument/2006/relationships/slide" Target="/ppt/slides/slide1.xml" Id="R8b4450ec09ed457c" /><Relationship Type="http://schemas.openxmlformats.org/officeDocument/2006/relationships/slide" Target="/ppt/slides/slide2.xml" Id="R6b2fc39998b04e80" /><Relationship Type="http://schemas.openxmlformats.org/officeDocument/2006/relationships/slide" Target="/ppt/slides/slide3.xml" Id="Rf22576d2e39349fc" /><Relationship Type="http://schemas.openxmlformats.org/officeDocument/2006/relationships/slide" Target="/ppt/slides/slide4.xml" Id="R3c720503b09b440f" /><Relationship Type="http://schemas.openxmlformats.org/officeDocument/2006/relationships/slide" Target="/ppt/slides/slide5.xml" Id="R25baac0ec9374bc6" /><Relationship Type="http://schemas.openxmlformats.org/officeDocument/2006/relationships/slide" Target="/ppt/slides/slide6.xml" Id="Rbe6905b8875748cd" /><Relationship Type="http://schemas.openxmlformats.org/officeDocument/2006/relationships/slide" Target="/ppt/slides/slide7.xml" Id="R60a4f88b5d5846aa" /><Relationship Type="http://schemas.openxmlformats.org/officeDocument/2006/relationships/slide" Target="/ppt/slides/slide8.xml" Id="Rec2648f9b5274e2b" /><Relationship Type="http://schemas.openxmlformats.org/officeDocument/2006/relationships/slide" Target="/ppt/slides/slide9.xml" Id="Rcb242ac588c34df9" /><Relationship Type="http://schemas.openxmlformats.org/officeDocument/2006/relationships/slide" Target="/ppt/slides/slide10.xml" Id="Ra7a68160c132466d" /><Relationship Type="http://schemas.openxmlformats.org/officeDocument/2006/relationships/slide" Target="/ppt/slides/slide11.xml" Id="R3a346137528d40d3" /><Relationship Type="http://schemas.openxmlformats.org/officeDocument/2006/relationships/slide" Target="/ppt/slides/slide12.xml" Id="R71d96a5da6e34e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82a3f7d4aa42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8c26aceb824907" /><Relationship Type="http://schemas.openxmlformats.org/officeDocument/2006/relationships/notesMaster" Target="/ppt/notesMasters/notesMaster1.xml" Id="R938a99c1a11745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dea9fb60834095" /><Relationship Type="http://schemas.openxmlformats.org/officeDocument/2006/relationships/notesMaster" Target="/ppt/notesMasters/notesMaster1.xml" Id="R197f040faaec4c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d18c96ded4428e" /><Relationship Type="http://schemas.openxmlformats.org/officeDocument/2006/relationships/notesMaster" Target="/ppt/notesMasters/notesMaster1.xml" Id="R2dcc29e96e4b44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af096801154eda" /><Relationship Type="http://schemas.openxmlformats.org/officeDocument/2006/relationships/notesMaster" Target="/ppt/notesMasters/notesMaster1.xml" Id="R4d3df2bb07364f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f7fe9dd3a74901" /><Relationship Type="http://schemas.openxmlformats.org/officeDocument/2006/relationships/notesMaster" Target="/ppt/notesMasters/notesMaster1.xml" Id="Rae96203b7fa743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c9a9e91bd84316" /><Relationship Type="http://schemas.openxmlformats.org/officeDocument/2006/relationships/notesMaster" Target="/ppt/notesMasters/notesMaster1.xml" Id="R56a577165de546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84c1dba5e04072" /><Relationship Type="http://schemas.openxmlformats.org/officeDocument/2006/relationships/notesMaster" Target="/ppt/notesMasters/notesMaster1.xml" Id="Rc05873be096843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6436cbef51410c" /><Relationship Type="http://schemas.openxmlformats.org/officeDocument/2006/relationships/notesMaster" Target="/ppt/notesMasters/notesMaster1.xml" Id="R4acaedb05b1148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e22b9cd40049a4" /><Relationship Type="http://schemas.openxmlformats.org/officeDocument/2006/relationships/notesMaster" Target="/ppt/notesMasters/notesMaster1.xml" Id="Rfed486a047364e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a39768d9724c2b" /><Relationship Type="http://schemas.openxmlformats.org/officeDocument/2006/relationships/notesMaster" Target="/ppt/notesMasters/notesMaster1.xml" Id="R1c1ba8275a594a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2fec10e6b84bfe" /><Relationship Type="http://schemas.openxmlformats.org/officeDocument/2006/relationships/notesMaster" Target="/ppt/notesMasters/notesMaster1.xml" Id="R1c5752b2409649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35d57973304137" /><Relationship Type="http://schemas.openxmlformats.org/officeDocument/2006/relationships/notesMaster" Target="/ppt/notesMasters/notesMaster1.xml" Id="R613d0aaca14543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封面。画面来自真实运行的首页截图，右侧为四季黄经仪局部。作品不含学校、团队成员或指导教师等身份信息。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问题定义依据游戏内 24 组科学辨析与 docs/科学与数据来源.md。现代气象季节判据应与天文节气节点区分。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四段式核心循环对应游戏内四个阶段：观天、识候、辨误、修复。每段都设置错误扣精度、连击中断、提示扣分和重试。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观天段使用前端太阳视黄经算法作互动演示。正式历算以紫金山天文台等权威历书为准。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七十二候名称采用公开通行传统体系，游戏内注明其为古代观察记录，不直接等同于现代生物学或气象标准。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辨误内容区分天文节点、实际天气与古代记录性质。地区差异不等同于节气时刻差异，节气时刻全国一致。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评分：每段基础分受当前精度影响，错误扣 8% 精度并中断连击，提示扣 5%。900 分以上为三星。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主线为 24 个节气节点；每章 6 关节气完成后解锁章末综合试炼，试炼不挤占 24 个节气节点。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四个试炼分别为春序、夏序、秋序、冬序校准，包含 6 节气排序、3 组候证配对和 3 条科学陈述审校。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浏览器全流程测试覆盖 24 关、4 个章末试炼、72 候、刷新续玩、错题路径、成果卡下载、390px 移动端和单文件离线版；控制台无错误。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与前作/普通科普页的差异落实在机制、反馈、收藏、结局和技术实现上；仅参考公开节气数据与知识背景，不复制页面结构或交互模型。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结束页展示真实生成的成果卡。天文计算为近似演示；正式历算以紫金山天文台等权威机构发布的历书为准。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24e35da074b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2e96aa871e4c60" /><Relationship Type="http://schemas.openxmlformats.org/officeDocument/2006/relationships/slideLayout" Target="/ppt/slideLayouts/slideLayout1.xml" Id="Ra6a9534a720841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a9534a720841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85e8b09a64ffd" /><Relationship Type="http://schemas.openxmlformats.org/officeDocument/2006/relationships/image" Target="/ppt/media/image.png" Id="Rc748a886ec2245bc" /><Relationship Type="http://schemas.openxmlformats.org/officeDocument/2006/relationships/notesSlide" Target="/ppt/notesSlides/notesSlide1.xml" Id="R49115b47ed5c4e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38c1996f24d7f" /><Relationship Type="http://schemas.openxmlformats.org/officeDocument/2006/relationships/notesSlide" Target="/ppt/notesSlides/notesSlide2.xml" Id="R1a370524695b40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f732f4ccc4df1" /><Relationship Type="http://schemas.openxmlformats.org/officeDocument/2006/relationships/notesSlide" Target="/ppt/notesSlides/notesSlide3.xml" Id="Rc2dc8b515c2349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dfeddcf154f86" /><Relationship Type="http://schemas.openxmlformats.org/officeDocument/2006/relationships/image" Target="/ppt/media/image2.png" Id="R1bb6566d69364a5c" /><Relationship Type="http://schemas.openxmlformats.org/officeDocument/2006/relationships/notesSlide" Target="/ppt/notesSlides/notesSlide4.xml" Id="R6b34361a15df4c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f884060a84b97" /><Relationship Type="http://schemas.openxmlformats.org/officeDocument/2006/relationships/image" Target="/ppt/media/image3.png" Id="R19f9ac85121743d0" /><Relationship Type="http://schemas.openxmlformats.org/officeDocument/2006/relationships/notesSlide" Target="/ppt/notesSlides/notesSlide5.xml" Id="R9944e9584e0849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a2a2244fe4a3b" /><Relationship Type="http://schemas.openxmlformats.org/officeDocument/2006/relationships/image" Target="/ppt/media/image4.png" Id="Rdf63dc6018be4dd7" /><Relationship Type="http://schemas.openxmlformats.org/officeDocument/2006/relationships/notesSlide" Target="/ppt/notesSlides/notesSlide6.xml" Id="R488b6c3f927445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682573b0f416a" /><Relationship Type="http://schemas.openxmlformats.org/officeDocument/2006/relationships/image" Target="/ppt/media/image5.png" Id="Re8e2646d6f3d4966" /><Relationship Type="http://schemas.openxmlformats.org/officeDocument/2006/relationships/notesSlide" Target="/ppt/notesSlides/notesSlide7.xml" Id="R6b881810292c45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22c469e5045e7" /><Relationship Type="http://schemas.openxmlformats.org/officeDocument/2006/relationships/notesSlide" Target="/ppt/notesSlides/notesSlide8.xml" Id="R2a839795a2304e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cf4029c9744c7" /><Relationship Type="http://schemas.openxmlformats.org/officeDocument/2006/relationships/image" Target="/ppt/media/image6.png" Id="R7cbe057c474f4d6a" /><Relationship Type="http://schemas.openxmlformats.org/officeDocument/2006/relationships/notesSlide" Target="/ppt/notesSlides/notesSlide9.xml" Id="R7f25bca8388c40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2e20f18ac42a7" /><Relationship Type="http://schemas.openxmlformats.org/officeDocument/2006/relationships/notesSlide" Target="/ppt/notesSlides/notesSlide10.xml" Id="Rfdceb03ddc1448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07e3bf3654752" /><Relationship Type="http://schemas.openxmlformats.org/officeDocument/2006/relationships/notesSlide" Target="/ppt/notesSlides/notesSlide11.xml" Id="R25f96098d06c4a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f77a369534e96" /><Relationship Type="http://schemas.openxmlformats.org/officeDocument/2006/relationships/image" Target="/ppt/media/image7.png" Id="Rb9be66fdf27e412f" /><Relationship Type="http://schemas.openxmlformats.org/officeDocument/2006/relationships/notesSlide" Target="/ppt/notesSlides/notesSlide12.xml" Id="R6ac9ab0180a24d60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8a886ec2245bc"/>
          <a:srcRect xmlns:a="http://schemas.openxmlformats.org/drawingml/2006/main" l="17689" t="0" r="176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3342C-0E68-4FCD-A24A-5CF22794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07131F"/>
              </a:gs>
              <a:gs pos="72000">
                <a:srgbClr val="07131F">
                  <a:alpha val="96000"/>
                </a:srgbClr>
              </a:gs>
              <a:gs pos="100000">
                <a:srgbClr val="07131F">
                  <a:alpha val="8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31A2B-4328-43B6-979D-F49A634C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771525"/>
            <a:ext cx="5410200" cy="5410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B5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EE23F-29DC-4E0C-B3D5-A386044E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978" y="1528953"/>
            <a:ext cx="3895344" cy="389534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B5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8F3E2-05B8-4881-A166-01EC9D0D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406" y="2286381"/>
            <a:ext cx="2380488" cy="23804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B5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8F655-7B0C-479E-ABAD-7451D3BC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米兰设计周 · 触摸时间 · 魅力节气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51F96-6AF0-4954-BEB0-84C30A5E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76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B5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44017-54BA-4A44-928D-99CB4F5D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585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节气行旅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D41A0-27D9-4865-A30F-E5B81CD2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二十四节气的物候解谜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EA04C-0148-4242-B665-982285BA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修复一座失去秩序的四季时钟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131A0-5B3F-430F-8C1A-162CD203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观天  ·  识候  ·  辨误  ·  修复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6621F-2C6C-48AF-AA42-446E234D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24 个节气关卡    72 候图鉴    4 个章末试炼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9D81A-0A10-4876-866E-DC3B69C8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400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50BB4-6ACF-4AA4-A5D3-FA217133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纯前端运行  ·  无登录  ·  无后端  ·  核心玩法可离线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FEEAA-5A7A-46A2-A70F-7CD71B92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6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96A52"/>
                </a:solidFill>
                <a:latin typeface="Microsoft YaHei"/>
                <a:ea typeface="Microsoft YaHei"/>
                <a:cs typeface="Microsoft YaHei"/>
              </a:rPr>
              <a:t>AI 辅助设计：代码 / 文案 / 版面初稿；学生修改、科学核验与验收</a:t>
            </a:r>
          </a:p>
        </p:txBody>
      </p:sp>
    </p:spTree>
    <p:extLst>
      <p:ext uri="{BB962C8B-B14F-4D97-AF65-F5344CB8AC3E}">
        <p14:creationId xmlns:p14="http://schemas.microsoft.com/office/powerpoint/2010/main" val="1063593182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A8047-34E5-4922-8A6D-478E6A70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97EC1-2505-4D81-903C-F4E2705E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2778A-BD99-45BB-9E55-B74D41A3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CEB90-88A8-4E9F-8968-1226B709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41B20-8E86-47DE-9C84-A482FECE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WHY THIS GAME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55AB3-A868-4FB6-97E6-CD9ABEFF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三种混淆，让节气变成“背名称”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9E93E-067E-4120-8B6B-2A023445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二十四节气连接太阳运动、物候和农事生活，但公众理解常停在名称记忆。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31943-92B7-4406-B8BB-2752A12B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4191000" cy="419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294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A7E67-243A-4F6D-AEED-B782F678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990" y="2205990"/>
            <a:ext cx="3017520" cy="3017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294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89CED-A0D0-4C53-822E-CF101B56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730" y="2792730"/>
            <a:ext cx="1844040" cy="18440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294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B3773-E8DF-4BE2-BF3A-2EDFA6D4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A8AE6-A701-4CAE-8C1B-342C3E60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天文节点 ≠ 当天天气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3EB44-8B7B-48F7-8755-9AFFAD42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立春、夏至由太阳黄经确定；入春、最热日还要看当地气温与热量累积。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41B3F-B672-4AAB-BFDD-661B004C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00350"/>
            <a:ext cx="9525" cy="2524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6F6E5-2EB5-4323-BBDE-2762A168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622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1765C-26D8-4F84-8543-0539BBBE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575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古代物候 ≠ 现代定律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8FFCF-4A10-4DF0-A977-3DD3BE90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七十二候是有价值的观察体系，但不能直接等同于现代气象或生物学标准。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F2431-3A2A-440C-87BE-3AEBDBBD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9525" cy="2524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85869-D95D-4116-BE4D-266B9BCD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622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6A52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D96A52"/>
                </a:solidFill>
                <a:latin typeface="STSong"/>
                <a:ea typeface="STSong"/>
                <a:cs typeface="STSong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02E33-2BD3-4378-B509-2CD8DA55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575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节气名称 ≠ 定量标准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2468D2-B61D-4E4D-A88B-EAB3DD26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“小雪”“大雨”等名称描述季节趋势，不是统一的降水量或天气等级。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C8BB2E-0FF5-4E1D-9217-FAF8ECA7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不是增加更多“知识点”，而是让玩家亲手校准这些边界。</a:t>
            </a:r>
          </a:p>
        </p:txBody>
      </p:sp>
    </p:spTree>
    <p:extLst>
      <p:ext uri="{BB962C8B-B14F-4D97-AF65-F5344CB8AC3E}">
        <p14:creationId xmlns:p14="http://schemas.microsoft.com/office/powerpoint/2010/main" val="183920013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3416F1-9C88-4EB4-99D7-BD0EC2F7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FEBBE-481B-470F-9237-C3919944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C160F-AF8E-402F-A493-247EFD15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D3B69-511C-472A-9152-CA136076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DCBB9-2D8E-4529-A6F3-107DA4A9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CORE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FD366-55F5-4D6B-AA14-89060C2B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把知识变成一台需要校准的时轮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0C542-F986-49D8-87D4-A6F3643D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每一关都是一次完整的仪器操作，不是阅读后点下一题。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CAE50-50B4-4519-B5A1-29E1A83C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9029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49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91A65-114C-4328-B613-107AD557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914400" cy="914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B5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C7D10-94A7-4A70-99C3-1428A74D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33725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观天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94D97-77E8-4A25-84E7-C6391CB7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PHASE 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1FB58-AB52-4475-A9D3-891BDD69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447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旋转日轮，对准太阳视黄经 315°—300° 的节点刻度，再认节气印。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B8469-AAD0-486D-B61A-0DC67A41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05125"/>
            <a:ext cx="914400" cy="914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3A9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D5A2B-A504-456F-9732-C14D824B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33725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识候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4A6D3-2F6A-4938-9E90-25377EA9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100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PHASE 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5FC6A-3C3C-404A-8ADC-98C35846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38650"/>
            <a:ext cx="1447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从 6 枚混合候牌中找出 3 枚，并按初候、二候、三候排序。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A90BA-8A51-4F61-9FE4-827957F4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914400" cy="914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6A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1084B-A726-4336-8926-E410011D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33725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D96A52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D96A52"/>
                </a:solidFill>
                <a:latin typeface="STSong"/>
                <a:ea typeface="STSong"/>
                <a:cs typeface="STSong"/>
              </a:rPr>
              <a:t>辨误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0D3BBE-94C4-4A0D-9F8A-43C91E9F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00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PHASE 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9A163-F696-4A10-A682-DD6D3B64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38650"/>
            <a:ext cx="1447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从 4 条材料中选出 2 条证据，让科学证据天平回到平衡。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5E264A-5895-4518-B3F5-32A27040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914400" cy="914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94A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3D0222-EE1E-411F-BAB3-9D906A8D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33725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7294A7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7294A7"/>
                </a:solidFill>
                <a:latin typeface="STSong"/>
                <a:ea typeface="STSong"/>
                <a:cs typeface="STSong"/>
              </a:rPr>
              <a:t>修复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44B355-914F-4D57-A4C0-0520F488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100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PHASE 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A9F96-C319-4FE1-8253-978D560F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1447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排列太阳位置到物候表现的 4 段因果链，启动节气时轮。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673D30-8260-4C32-A079-3735BB7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743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52DDD-B44A-4E4C-BF86-05965163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674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FD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FDAA5"/>
                </a:solidFill>
                <a:latin typeface="Microsoft YaHei"/>
                <a:ea typeface="Microsoft YaHei"/>
                <a:cs typeface="Microsoft YaHei"/>
              </a:rPr>
              <a:t>目标   ·   线索   ·   操作   ·   即时反馈   ·   成功条件   ·   评分</a:t>
            </a:r>
          </a:p>
        </p:txBody>
      </p:sp>
    </p:spTree>
    <p:extLst>
      <p:ext uri="{BB962C8B-B14F-4D97-AF65-F5344CB8AC3E}">
        <p14:creationId xmlns:p14="http://schemas.microsoft.com/office/powerpoint/2010/main" val="1884842634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9C6FE-83CE-4C5D-ADCF-5638705E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6ACF8-928D-4A34-B868-57D38935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机制拆解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6BAE5-7CC0-4D1D-95D5-396BD3D6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95A22-DC63-4C2C-94BA-DADB5EF6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4B3A4-CC97-4BC4-BBF2-7DD79AFA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OBSERVE THE SUN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63DBB-FD8F-4979-9514-F3D961E9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太阳黄经不是背景，而是第一道操作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6566d69364a5c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00250"/>
            <a:ext cx="6572250" cy="4562475"/>
          </a:xfrm>
          <a:prstGeom xmlns:a="http://schemas.openxmlformats.org/drawingml/2006/main" prst="roundRect">
            <a:avLst>
              <a:gd name="adj" fmla="val 20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45B92-2216-46F3-91C5-B04C45D8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52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观测记录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7B58E-76B1-442B-8DF2-4B138755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视黄经 315°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1F542-028D-4A84-942E-ECB6F0CD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直射点约南纬 11°</a:t>
            </a:r>
          </a:p>
          <a:p xmlns:a="http://schemas.openxmlformats.org/drawingml/2006/main">
            <a:pPr algn="l"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北半球昼渐长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99446-0AFD-4A7A-BD4D-945EAEA8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386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1696F-EE4E-41A3-8FA1-56533842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529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±4°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D6C4D-DFB9-4AA3-B4F2-F4F97F69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05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指针容差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09BBA-8D71-48D7-A257-E46AFD83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529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4 选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B0784-71EC-41CC-95B2-D83EAD2D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05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节气印识别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7D83E-02D1-4F8D-873B-22FBD8DC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44830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拖动 / 触屏滑杆 / 键盘方向键均可操作。锁定黄经后再辨认节气，让“天文位置—季节名称”形成一次可验证的动作。</a:t>
            </a:r>
          </a:p>
        </p:txBody>
      </p:sp>
    </p:spTree>
    <p:extLst>
      <p:ext uri="{BB962C8B-B14F-4D97-AF65-F5344CB8AC3E}">
        <p14:creationId xmlns:p14="http://schemas.microsoft.com/office/powerpoint/2010/main" val="1376289104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86DB57B-1622-4D9D-B427-48064C08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69F92-694E-4926-90B8-7DC01E32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机制拆解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894A4-620D-41E5-913C-1034EFEB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BB5DE-41B9-44EA-8F9D-CBA743E3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8FFC7-3358-4158-BF8A-18A61E5A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READ THE PHENOLOGY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3B95C-D4E2-4FB5-85AA-716B5067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七十二候，从阅读列表变成可收集的候牌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9ac85121743d0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00250"/>
            <a:ext cx="6572250" cy="4562475"/>
          </a:xfrm>
          <a:prstGeom xmlns:a="http://schemas.openxmlformats.org/drawingml/2006/main" prst="roundRect">
            <a:avLst>
              <a:gd name="adj" fmla="val 20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C33FB-FFFF-4CD3-880A-91719B01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2098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75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3 /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D3924-5036-4CCF-8484-B61627A2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003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从混合候牌中选出本节气的三候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9C211-E708-4C2E-BD7B-139945F7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4807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初 → 二 → 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ED44E-558C-4824-B61B-C6C33783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386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再按传统候序放入观察槽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703EF-B4BF-43F6-B719-20F4ECE5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75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72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51F97-9072-4739-8666-A6E8051B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721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候牌收入档案，形成完整物候图鉴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CADE6-20AF-41A0-BF1F-16BF434E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C767A-C4A1-4280-8540-2D4C2474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189B3-7C17-47AA-9311-CB442F50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D4AC4-749B-4416-9947-2714A1A7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EDC7E-AF19-43D6-96BD-AF2938E2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4223F2-652B-4246-8652-0350B447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BD43B-5190-445E-A5D0-4666AE4F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9DAFC-1D4B-4551-B71C-1B646DB4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DC284-DAB8-449A-88FA-9367A5C6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93EB0-41D5-481C-93EC-4479A70E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A176E1-6BFD-484A-96CE-38E65F1B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A05D2A-D915-4A3C-9B79-540A066B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16D325-920A-4296-AD90-923EB61C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0C39F-B6EC-4332-943E-64429B7A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1498A3-787D-45B9-99FC-0A1944A6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AC5758-EAE2-46E9-A365-A18A4919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15AA65-4B26-42D6-9830-4DE0ED0D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4D189B-CF62-488C-B4A3-0392C117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4A3447-BB83-4A10-B1A2-31A56116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EEF4BA-1B4D-436A-8D38-7908E62D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2531A1-8DA5-4F7C-86AF-4DF8ADF5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653983-AC56-4C40-8299-2757DD2B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1A64A3-32FF-4E99-BCC8-F3E83DB6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18C8BF-FAE7-4EE6-9C56-01E6124C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4B26F2-9E92-41B8-819C-9A511B94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3133A9-D337-4C97-8A4A-F62AB4AD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798403-3811-4C87-8F31-F66AA9CF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9CBD7D-D35E-41D1-BE30-4C7A6B55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0BD586-FE6D-4653-89A0-5F86AFE5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015DDB-0288-4152-B278-85848C7D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CC064F-FF92-4B5E-95A5-E1E0A108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CDEC0B-6A15-4DD3-BAA3-E21EAD91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3DE6C1-A8E7-4D1E-B667-F12CC375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FA3C06-B39B-4913-ADED-5B2DE05E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166F7D-9BC1-4613-BAA6-54A59861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04B44A-F4DA-4EB3-A02B-B1C3525E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16B27B-6887-44ED-890C-C5C93C50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95465A-E20F-4B41-86CD-FD4E7B96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F253A1-343B-4F4D-8F52-95D308D7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6040F6-50AE-49FE-B2CA-17CF563D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569371-2BCE-4387-81D5-49503BF0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AB2968-9336-4460-B350-5A27D2E6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6D1E45-3DD4-49C5-B250-4E772663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19C2E5-D9E2-4D75-B6FF-6B832761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25E0DF-4185-4A1C-A09B-78843E50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AB02D1-3ACF-4885-B37D-C1BEAD28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F9F39E-9BDF-4A4E-9130-81327782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44DC83-DD6A-48F0-8EA1-E1EABC0A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477A05-5AFC-4759-BA0A-30A97672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C3C686-ABB0-4B7C-9E05-43F21042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8368FDF-7450-43BB-AF94-6935EB0D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01A9829-C940-4709-BA93-654CF06A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3D5961-FE28-4C16-9A03-EC00F5C9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A68B30-32DE-4A27-AF2C-1367F54E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D37C8B-CEA5-457D-A266-94D7D781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3EFCF0-748F-4997-85B8-9AD12AC9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D9996B4-4A12-4F0E-9905-11813150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873051-0F67-4CB7-AA76-DF2DF3D2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38107A5-BDC4-4390-82AD-AFAB4501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8E55775-A459-47A2-9579-3CBC15A5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1907E07-FC2F-4A0F-8B95-C7F9059E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5864551-4195-44A0-B761-94BA02FB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2953E91-330D-4EA9-9C64-4CDE55C4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21EC408-A6C8-440A-9474-B15A73C7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BB9D318-B16C-4923-A67C-D43D9FED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6051CD6-67DE-4D24-ACF8-6429901F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32C6D9-DB82-40F0-BABF-2E950343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B1E90B8-C373-4A1B-B97E-4FA067AF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B360CE9-7CC5-4CF5-87F8-EAC691F2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186C454-E963-4D93-BED9-653D75AE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1D72786-B5A6-4534-AFBD-2599B26E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C350772-48B3-4ECC-AC2A-0615E3E6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690698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B8EA8-95E3-451F-8117-45E62BD6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F4506-266F-4FBE-B47F-C4CA2879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机制拆解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AB0A7-19F2-4C76-B387-BFA2C532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AE27C-5665-4124-86AB-83265B7F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17F3A-627A-42A4-B87E-B72F01B0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WEIGH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1888B-E376-4554-A401-69743E27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证据天平，把“传统”与“现代解释”分开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3dc6018be4dd7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1809750"/>
            <a:ext cx="5295900" cy="3676650"/>
          </a:xfrm>
          <a:prstGeom xmlns:a="http://schemas.openxmlformats.org/drawingml/2006/main" prst="roundRect">
            <a:avLst>
              <a:gd name="adj" fmla="val 259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373A8-BD39-4ADD-9D35-BC70ABEA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6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96A52"/>
                </a:solidFill>
                <a:latin typeface="Microsoft YaHei"/>
                <a:ea typeface="Microsoft YaHei"/>
                <a:cs typeface="Microsoft YaHei"/>
              </a:rPr>
              <a:t>待辨析命题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2BB37-FBFD-43CA-83B2-CE823F4B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80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“立春一到，全国就同时进入气象学意义上的春天。”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8BEBD-8A83-420F-B5A3-4E1B7ECB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证据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CC96E-C8E4-4FFA-941F-F18C5937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004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节气按太阳视黄经划分，不直接决定各地实时气温。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68CE6-722D-4138-9BB2-BECA94FD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证据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55806-EFFF-483B-8ECF-2EBFE03E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958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中国南北跨度大，同一节气内的气温和物候差异显著。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93427-41E4-4F74-93A4-2BE4BEF7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错误选择会进入“证据回廊”，答对后标记为“已校正”。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673D2-B8CA-4743-B31A-927AA497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0257251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9E889A-6F60-4141-829A-DA73FC2C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43417-14C6-409B-8661-A3CDC6C7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机制拆解 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04B21-0DBA-44DE-A3D5-0E072459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06ED8-2392-4D9D-A696-67D75426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D53E0-EDFB-43E4-B647-1EAC3385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REPAIR THE CLOCK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37D85-3174-4C8B-A418-F0EEA7E7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四段因果链，才是本关的最后机关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2646d6f3d4966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62150"/>
            <a:ext cx="6572250" cy="4562475"/>
          </a:xfrm>
          <a:prstGeom xmlns:a="http://schemas.openxmlformats.org/drawingml/2006/main" prst="roundRect">
            <a:avLst>
              <a:gd name="adj" fmla="val 20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02168-8DED-46B3-B2DA-D44A75A4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57400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F75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FFCA3-56A3-488A-963F-59ADC67B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171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1350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78322-9286-4622-906D-90718BC2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太阳视黄经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76AA5-1B1A-4066-9DBF-3F0D8C38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到达本节气对应刻度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B961C-8344-4348-BCEE-7A5735B8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95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6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985F4-7C0C-422A-AF2B-935D99D0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57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F75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68665-DA04-4F98-87BD-EFD8D3C0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718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1350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64257-8419-4842-9B36-8BDCCA63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直射与昼夜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3110C-4CAF-4037-A4FD-F1A6DBE4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81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太阳高度、昼长发生变化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425A0-74A9-4610-91AD-8782AB2B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90925"/>
            <a:ext cx="95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6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09396-2FC5-410C-ABC5-002E6E2D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57650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F75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0B413-1D15-4974-9AA1-39B6883D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71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1350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7352B-DC29-44F3-8A34-534514BD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76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地表与大气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52FE8-23D0-4DD7-8498-6D0DF83D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81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热量、水汽与环流响应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36708A-C841-4806-A8A6-9F24DB8C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95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6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99A9E-18F7-4425-8A7B-13525DAB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5777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3A96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196CDD-DDE6-4A88-85CB-23B4AF59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172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1350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D2E2CB-6B17-43D3-AC39-8A0F159B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768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物候表现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D90EE9-CE3B-4A95-984E-995FEB75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816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萌发、鸣叫、迁徙或凝结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6F4F8D-51EE-4ED8-BC56-0F5FB1E4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6115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1875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1000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40FBD4-2949-461F-8B81-3C511F95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1817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满分</a:t>
            </a:r>
          </a:p>
        </p:txBody>
      </p:sp>
    </p:spTree>
    <p:extLst>
      <p:ext uri="{BB962C8B-B14F-4D97-AF65-F5344CB8AC3E}">
        <p14:creationId xmlns:p14="http://schemas.microsoft.com/office/powerpoint/2010/main" val="760270108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80A6F14-7F3B-4CFE-8D07-A770F110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82703-5EBE-4A84-A2B5-11680067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关卡结构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E2B20-B9D6-4098-AF03-A05E69E7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C2858-1A9B-4865-98E5-C5A4FEAA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B27F4-6559-4FB7-A087-E9C2E168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24 TERM NODES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FE911-09E1-4EEC-98BA-E5818F69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24 个节点构成可逐章解锁的四季星图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252FE-7821-4F35-A8C9-3AB0261C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每个季节 6 个节气关，再追加 1 个章末综合试炼。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18428-CB44-4201-AD9C-8202961F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EDFD5-5A09-437F-B045-5497DFF5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春章 · 启蛰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7E708-DA4B-435D-9D48-DBA61C90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3A9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29E59-295A-4126-81F1-130D8A4D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C4573-8096-46D4-A224-2D96B781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立春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8B035-1F19-4761-835F-BC8D7FE2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872D3-5DFC-4DE5-B54F-59D01B53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雨水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6CE86-95F0-4E22-8EE7-62989A02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54548-92C0-4F44-9E34-32C4F3C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惊蛰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34E3E-550C-429C-B0DA-007E2BE6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F4E6D-DFF0-49FB-8830-72BF6CB7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春分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AC7FB-E406-469F-BB30-DBAB0BE9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E2CCA-A2E7-4019-807B-A72FCE5F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清明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35FB7-27AF-4CA7-9799-92E6F09A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025296-619E-4C40-A437-65557C94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谷雨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766B3C-5A25-42FC-8172-20AB82C7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D980F-9B98-4886-AE01-522394AF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章末试炼 · 6 + 1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71F4D7-41DE-435D-93C7-D0FA16DF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06A46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D06A46"/>
                </a:solidFill>
                <a:latin typeface="STSong"/>
                <a:ea typeface="STSong"/>
                <a:cs typeface="STSong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96868C-26F9-46EF-951B-A6889434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14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06A46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D06A46"/>
                </a:solidFill>
                <a:latin typeface="STSong"/>
                <a:ea typeface="STSong"/>
                <a:cs typeface="STSong"/>
              </a:rPr>
              <a:t>夏章 · 长明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DA6C51-62BB-413F-BA5E-259A5D74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813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6A4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B0265C-01C0-4DA5-959D-6EFA3DFA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D97877-B685-46C8-AD61-9B21B75D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29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立夏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5788D1-4775-4692-A9AD-3E9B002F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7C1268-E755-467D-BAB3-77998ACC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38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小满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929A75-29A1-4459-B905-04475D28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3B01EF-4EC4-4536-8E5D-461C6DB0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48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芒种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63486E-BCB4-4907-9FEB-1D9CCB90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39589A-B634-4371-AFD3-086F0500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577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夏至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7E65EA-C0EC-4D34-AFAC-137D66D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14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1034B9-1632-41AB-B2C8-4DFEA4CD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67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小暑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B57F50-5BEF-4C39-9857-70446D46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2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E96CD6-32BE-4F90-8DA6-99316D51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476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大暑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CFDAAF-40C9-40C0-8764-E7533DD9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9626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49C716-6A34-43DF-B0A6-667DFFDF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0579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章末试炼 · 6 + 1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D15B62-9C30-4DF2-BEA9-181EF2B9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09A50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C09A50"/>
                </a:solidFill>
                <a:latin typeface="STSong"/>
                <a:ea typeface="STSong"/>
                <a:cs typeface="STSong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7C08C7-446D-4668-B206-B71ACF9A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14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09A50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C09A50"/>
                </a:solidFill>
                <a:latin typeface="STSong"/>
                <a:ea typeface="STSong"/>
                <a:cs typeface="STSong"/>
              </a:rPr>
              <a:t>秋章 · 敛藏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4D7348-08F0-46F5-AAAC-44004B29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9A5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53AFD7-2159-4F9E-BB62-C80BB3DA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338D4E-5716-4543-A84C-1DBC3B5B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立秋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579DE5-6501-4C95-A2B2-575F9FAF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2865FB-B9F4-4E26-92F8-49133057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38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处暑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6E5BC5-DA0B-4D34-BBCB-F6919F81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E72C4B-097E-4EE0-B78F-2CCC82D1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白露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0F46E1-ACC5-4C06-AE85-7BD0157F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C07B61-64C1-4EBE-A9A5-8D27D997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577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秋分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75C634-8520-46CA-A8FA-9564F0C8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14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35C22F-E17F-4658-A8F1-D20A43F8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67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寒露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660831-0378-45B1-8F60-6655A67C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2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45C8FB-6563-4268-849A-33BB8A49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76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霜降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EE52E4-3C39-45B0-B318-23D2B344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9626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458E06-443D-486F-BB32-0D0947B2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579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章末试炼 · 6 + 1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E73951-C1F8-4432-948C-0BD0B868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294A7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7294A7"/>
                </a:solidFill>
                <a:latin typeface="STSong"/>
                <a:ea typeface="STSong"/>
                <a:cs typeface="STSong"/>
              </a:rPr>
              <a:t>04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4C0B90-9BC4-4607-856D-C03E329D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294A7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7294A7"/>
                </a:solidFill>
                <a:latin typeface="STSong"/>
                <a:ea typeface="STSong"/>
                <a:cs typeface="STSong"/>
              </a:rPr>
              <a:t>冬章 · 归根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9B90A5D-579D-4EFB-9185-A62E0162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813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94A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7CB368-9BE4-4A2C-AF37-17B90638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D0C994-7E8F-425F-9C81-65BA23E7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立冬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CF404D1-5A92-4816-ACC8-C98D7248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7CE88A-0A90-42D3-B2C4-D7E22F50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38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小雪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E013E61-6EDA-4FDC-8AEB-B4DADD02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B2C366-1AC1-4CFB-A01D-BBCC09EC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48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大雪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9F3D22C-70F9-44FA-BF16-B6ED6C7D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E906277-AF27-467A-90BC-8661F150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577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冬至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AB425BA-4252-45A2-87C0-580A1A3E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14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04C34A5-5899-45DB-B454-97A7FB06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67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小寒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704E825-2F55-4BB0-9EE5-C6A4094E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DE8D39E-F1CF-44D2-A1CA-671E3B77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76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大寒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68DED0-F0F1-475B-B74D-86E3F01E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626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7298400-4208-4E9F-B198-DBEBCC8B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0579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章末试炼 · 6 + 1</a:t>
            </a:r>
          </a:p>
        </p:txBody>
      </p:sp>
    </p:spTree>
    <p:extLst>
      <p:ext uri="{BB962C8B-B14F-4D97-AF65-F5344CB8AC3E}">
        <p14:creationId xmlns:p14="http://schemas.microsoft.com/office/powerpoint/2010/main" val="166253794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2EE1E-B645-439B-BFF6-47A638E0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EC7A9-F8B8-4612-BFE3-F5431E55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综合挑战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31C8C-72C5-4F9F-916B-4AA95210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B00DE-2889-4890-B2F0-8A0F3557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4D364-0C1F-46F6-83D0-403BAE95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CHAPTER 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3F436-ED98-462C-8BDA-F2D32FE0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章末试炼检验的不是记忆，而是整章关系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0E7B3-647A-4CC7-8C03-2A4C119C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从星序、候证到科学审校，将本章知识重新组合。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e057c474f4d6a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28825"/>
            <a:ext cx="6534150" cy="4533900"/>
          </a:xfrm>
          <a:prstGeom xmlns:a="http://schemas.openxmlformats.org/drawingml/2006/main" prst="roundRect">
            <a:avLst>
              <a:gd name="adj" fmla="val 210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1B82B-FE24-4A34-B702-973629CD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479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1500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8A2CD-0F61-4392-AF94-2AC60859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38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星序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7F66F-C28F-4AAE-91A1-AC12B8D3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0032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按太阳视黄经顺序重连本章 6 个节气。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60318-C754-4527-A937-6792290C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385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1B9F2-D4C8-4424-BF62-B2EE4D66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1500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654AB-44E3-41EC-9715-2FA783D3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95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候证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49E16-D23D-44CF-A10F-CA96808C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5762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为 3 个节点找到正确候牌，跨节点辨认物候。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ECE20-8D50-4AD4-BF7A-156D0A30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958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1B25F-3FE4-479E-9820-1B521155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294A7"/>
                </a:solidFill>
                <a:latin typeface="STSong"/>
                <a:ea typeface="STSong"/>
                <a:cs typeface="STSong"/>
              </a:defRPr>
            </a:pPr>
            <a:r>
              <a:rPr sz="1500" b="0">
                <a:solidFill>
                  <a:srgbClr val="7294A7"/>
                </a:solidFill>
                <a:latin typeface="STSong"/>
                <a:ea typeface="STSong"/>
                <a:cs typeface="STSong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8342C-BD11-4791-AA52-7DFF0EA5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529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万象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2CD2B-DBDA-4C17-B353-B1C58DE8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1492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从 5 条陈述中选出 3 条可靠结论。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D0E72-64BD-488C-BC58-2678DD84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7531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2436D4-D5D4-4EA6-B2EA-FD04177F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0960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4 个章末印记，独立记录最佳分与星级。</a:t>
            </a:r>
          </a:p>
        </p:txBody>
      </p:sp>
    </p:spTree>
    <p:extLst>
      <p:ext uri="{BB962C8B-B14F-4D97-AF65-F5344CB8AC3E}">
        <p14:creationId xmlns:p14="http://schemas.microsoft.com/office/powerpoint/2010/main" val="1993660784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780E0A-2E7B-4917-ACA2-51B0EA11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6C5D2-C44F-48A5-B168-6254A08C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游戏反馈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B7100-ED33-4F5C-B334-DB1E869B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976D9-2D10-484D-9E03-FCBAA475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B0FF8-568A-41DE-BEE7-33CBEC93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SYSTEM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0A0B2-C90E-4608-8495-99E00661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反馈、存档与适配构成完整游戏闭环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34583-2CBB-4AA8-A07D-A737403D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46CBE-75D9-4DFE-8C61-4398E7AD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5D3BE-471B-45F6-A68F-6371AE70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622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F6E9E-685F-4B69-9B82-3887AE62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14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物候候牌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DFB6B-964A-49F2-9404-1794B199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47F6F-91DB-4783-9AEE-7EF43F55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14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章末印记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F235F-539A-4514-A77D-5A1A339A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连击 · 精度 · 时轮分 · 星级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C536A-CEEE-41DF-A051-A2FD0E3C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最佳成绩、图鉴、错题与未完成检查点写入 localStorage；刷新后从上一完成阶段继续。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CAF6C-5E7A-4609-8436-44A6DCB6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E0136-3919-44EE-BB47-DCDAD251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可玩  ·  可辨  ·  可续玩  ·  可带走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827C6-62F8-43D1-B6F0-18DE3272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25146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8D910-62DF-4CD1-A393-CA117739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43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1575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即时反馈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8A501-9FF1-40D7-BE7F-29CD6CD5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19375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精度、连击、时轮分与 1—3 星评分。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90F4D-EB2E-40AF-8840-E9B4093B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52625"/>
            <a:ext cx="25146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26843-4599-40C1-BDB2-1269128F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43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1575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可续玩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43283-A463-4B05-A2B7-7425B35B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19375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关卡检查点与错题复盘保存在浏览器本机。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D3F868-1B98-4A19-8734-FF044A79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25146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72AF92-3B15-4217-91EB-62237945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57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06A46"/>
                </a:solidFill>
                <a:latin typeface="STSong"/>
                <a:ea typeface="STSong"/>
                <a:cs typeface="STSong"/>
              </a:defRPr>
            </a:pPr>
            <a:r>
              <a:rPr sz="1575" b="0">
                <a:solidFill>
                  <a:srgbClr val="D06A46"/>
                </a:solidFill>
                <a:latin typeface="STSong"/>
                <a:ea typeface="STSong"/>
                <a:cs typeface="STSong"/>
              </a:rPr>
              <a:t>可访问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A83F26-838F-4A86-BE7A-08B69D42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33925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390px 无横向溢出，主要按钮不小于 44px。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F0B82D-173D-4FF0-8222-F62F9FCA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67175"/>
            <a:ext cx="25146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B0EE72-1C62-4C96-8C93-4E65273D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57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294A7"/>
                </a:solidFill>
                <a:latin typeface="STSong"/>
                <a:ea typeface="STSong"/>
                <a:cs typeface="STSong"/>
              </a:defRPr>
            </a:pPr>
            <a:r>
              <a:rPr sz="1575" b="0">
                <a:solidFill>
                  <a:srgbClr val="7294A7"/>
                </a:solidFill>
                <a:latin typeface="STSong"/>
                <a:ea typeface="STSong"/>
                <a:cs typeface="STSong"/>
              </a:rPr>
              <a:t>可离线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B8B9E9-0C25-4C51-8C5D-EF9BA372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33925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单文件 HTML 内联全部资源，无网络请求。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03A2C7-51AE-4CEF-9C2D-BE9E9DA2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674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真实运行验收：24 关 + 4 试炼 + 72 候全流程通过，控制台错误 0。</a:t>
            </a:r>
          </a:p>
        </p:txBody>
      </p:sp>
    </p:spTree>
    <p:extLst>
      <p:ext uri="{BB962C8B-B14F-4D97-AF65-F5344CB8AC3E}">
        <p14:creationId xmlns:p14="http://schemas.microsoft.com/office/powerpoint/2010/main" val="1612638954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F2E4A0-8196-42A0-885F-94ED96AD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4A4F6-E9EB-4DBC-A01B-58C3A171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原创与实现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C3376-6EE6-46D3-A8CD-639E1393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C6561-F06E-466C-ACB8-60A10EC2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CDD83-B7DF-40ED-954E-F718C037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WHY IT IS DIFFERENT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2363F-7BA7-498C-9649-931986B2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机制差异：从节器物象转向可触摸的时间机制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90200-8A71-4B04-BD71-003B463E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8B6AA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B8B6AA"/>
                </a:solidFill>
                <a:latin typeface="STSong"/>
                <a:ea typeface="STSong"/>
                <a:cs typeface="STSong"/>
              </a:rPr>
              <a:t>物象展示型页面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B085D-41C7-4B9F-9707-E77C89B5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节气行旅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E29A4-0C4F-4B96-A8FF-08CC7A2B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主结构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A94D8-DBEF-4EEF-9941-FB6FC3DE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575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长页 / 卡片 / 查询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FECAA-26BD-4CEF-BC09-0E9E10C1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575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四季星图与节点解锁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F4FAB-95FC-4DD8-A292-AEB167B8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501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11C85-B665-47B4-AE7B-0C8E86AA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19475"/>
            <a:ext cx="487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055DB-AF53-4FAB-A5BD-5F9BC8FB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核心动作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822BC-CD7B-4C9C-8769-34903E39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57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阅读、测验、浏览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86487-8C46-4BD8-ADC1-83610652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校准、筛选、排序、修复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C5609-E99B-4B58-9ED3-32170E8B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501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64816-0989-434F-BD4F-A834FB3D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19550"/>
            <a:ext cx="487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EAF6A-A3C0-461D-AA99-23C27839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0C21C-DFD0-4B45-98ED-1A961F14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576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对错与积分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2435F-6AE0-4DC3-B280-D654E97C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57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精度、连击、星级、章节印记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1B9D2-8762-4111-BC0F-C51BEDF3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501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3BCB9A-72FA-43BA-A505-F9C298FA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9625"/>
            <a:ext cx="487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4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FC0B68-76EB-4E1F-BCD3-1E1AD9FD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收藏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AF37B1-4AB2-469F-BA2A-41F888F0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57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静态候表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911D03-A44D-4000-B1DF-2216E25E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57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关卡内候牌收集与 72 候图鉴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C267AD-4306-4E2D-B866-F056C66E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01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41CD9F-AD70-408F-856A-9DFFEC18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19700"/>
            <a:ext cx="487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4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1C63EB-53D7-4725-B3F7-974F584F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结局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331573-D2E2-491C-BE87-DDF9E56C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57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阅读记录页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8CBCF7-51DA-435C-B334-30FE688F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578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Canvas 时间行旅 PNG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137BAD-B4D4-4917-9B08-C74E9B57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501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738CAC-EC7E-41B6-AFAE-AD217C84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819775"/>
            <a:ext cx="487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4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E3876D-DBB9-4584-8902-8B4A14C3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技术：HTML5 + CSS3 + 原生 JavaScript + SVG + Canvas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7237FD-B821-4FBB-BD37-DDC3BB94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26745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无第三方运行时库 · 无外部 AI API · 无后端</a:t>
            </a:r>
          </a:p>
        </p:txBody>
      </p:sp>
    </p:spTree>
    <p:extLst>
      <p:ext uri="{BB962C8B-B14F-4D97-AF65-F5344CB8AC3E}">
        <p14:creationId xmlns:p14="http://schemas.microsoft.com/office/powerpoint/2010/main" val="596047466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1DB00-C8A6-4B9B-B595-181BCF13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C2F5E-9DED-4243-9DD4-162669C3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5ACC2-5510-4DEE-931E-9EAACEF6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052CC-C19C-4A7F-B243-485D9D43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E1947-2B0C-4C91-9647-E2F4B1C8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米兰设计周 · 触摸时间 · 魅力节气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3AF38-3314-4802-93B3-270126A3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55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触摸时间，让节气重新行走。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E2EFE-2B3D-4411-A726-28E13B72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通关后生成不含身份信息的“时间行旅”成果卡。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e66fdf27e412f"/>
          <a:stretch xmlns:a="http://schemas.openxmlformats.org/drawingml/2006/main"/>
        </p:blipFill>
        <p:spPr>
          <a:xfrm xmlns:a="http://schemas.openxmlformats.org/drawingml/2006/main">
            <a:off x="6172200" y="1609990"/>
            <a:ext cx="5238750" cy="3638021"/>
          </a:xfrm>
          <a:prstGeom xmlns:a="http://schemas.openxmlformats.org/drawingml/2006/main" prst="roundRect">
            <a:avLst>
              <a:gd name="adj" fmla="val 226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112E0-4461-473E-B145-1A62B087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24 / 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35FFA-FA6A-4151-9424-EDC32DD6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节气节点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602A9-9125-4110-B1F3-E88CF713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480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72 / 72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B2193-5B4D-4ADF-9327-7FD5F8E0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00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物候收录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D445C-3D0C-42F1-AFA1-B29F6285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480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4 /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0FC32-6F36-47EF-90AA-758E58C7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章末试炼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59998-EEAD-4E5F-8D52-582AFFFB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四季时钟已复原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C1D1B-A2B0-40D1-B7F3-6F8019D9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可玩  ·  可辨  ·  可带走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D4364-E5E2-4A35-B83C-31A65A3E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4400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73635-E5E0-4E12-9EA3-52E23486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正式历算以紫金山天文台等权威历书为准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0DF36-BB44-4494-8A36-ABAB9D5B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6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96A52"/>
                </a:solidFill>
                <a:latin typeface="Microsoft YaHei"/>
                <a:ea typeface="Microsoft YaHei"/>
                <a:cs typeface="Microsoft YaHei"/>
              </a:rPr>
              <a:t>AI 辅助设计：代码 / 文案 / 版面初稿；学生修改与验收。</a:t>
            </a:r>
          </a:p>
        </p:txBody>
      </p:sp>
    </p:spTree>
    <p:extLst>
      <p:ext uri="{BB962C8B-B14F-4D97-AF65-F5344CB8AC3E}">
        <p14:creationId xmlns:p14="http://schemas.microsoft.com/office/powerpoint/2010/main" val="588322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2026-10-25T13:56:19.4830000Z</dcterms:created>
  <dcterms:modified xsi:type="dcterms:W3CDTF">2026-10-25T13:56:19.4830000Z</dcterms:modified>
</coreProperties>
</file>