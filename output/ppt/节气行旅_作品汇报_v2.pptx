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f014612d8c4785" /><Relationship Type="http://schemas.openxmlformats.org/officeDocument/2006/relationships/extended-properties" Target="/docProps/app.xml" Id="R938f5e7060144093" /><Relationship Type="http://schemas.openxmlformats.org/officeDocument/2006/relationships/officeDocument" Target="/ppt/presentation.xml" Id="R54ad2ee7767342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92d5f6014a4e60"/>
  </p:sldMasterIdLst>
  <p:notesMasterIdLst>
    <p:notesMasterId xmlns:r="http://schemas.openxmlformats.org/officeDocument/2006/relationships" r:id="R41c1ef516a7b401e"/>
  </p:notesMasterIdLst>
  <p:sldIdLst>
    <p:sldId xmlns:r="http://schemas.openxmlformats.org/officeDocument/2006/relationships" id="256" r:id="R3fd6461f7b45447c"/>
    <p:sldId xmlns:r="http://schemas.openxmlformats.org/officeDocument/2006/relationships" id="257" r:id="R86edb33f51244c64"/>
    <p:sldId xmlns:r="http://schemas.openxmlformats.org/officeDocument/2006/relationships" id="258" r:id="R4edba7c2425d43d3"/>
    <p:sldId xmlns:r="http://schemas.openxmlformats.org/officeDocument/2006/relationships" id="259" r:id="R12754da2a28843ac"/>
    <p:sldId xmlns:r="http://schemas.openxmlformats.org/officeDocument/2006/relationships" id="260" r:id="R9ba00b6e8376485b"/>
    <p:sldId xmlns:r="http://schemas.openxmlformats.org/officeDocument/2006/relationships" id="261" r:id="R75921a2464754de3"/>
    <p:sldId xmlns:r="http://schemas.openxmlformats.org/officeDocument/2006/relationships" id="262" r:id="R32223895c9d94676"/>
    <p:sldId xmlns:r="http://schemas.openxmlformats.org/officeDocument/2006/relationships" id="263" r:id="R4766e7f6006e4cb5"/>
    <p:sldId xmlns:r="http://schemas.openxmlformats.org/officeDocument/2006/relationships" id="264" r:id="R758471d4945c41b1"/>
    <p:sldId xmlns:r="http://schemas.openxmlformats.org/officeDocument/2006/relationships" id="265" r:id="R8c075ca9d5294dc0"/>
    <p:sldId xmlns:r="http://schemas.openxmlformats.org/officeDocument/2006/relationships" id="266" r:id="R3efa74f5ce8844d0"/>
    <p:sldId xmlns:r="http://schemas.openxmlformats.org/officeDocument/2006/relationships" id="267" r:id="R87b54d08b71442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f281cfaf574d9d" /><Relationship Type="http://schemas.openxmlformats.org/officeDocument/2006/relationships/slideMaster" Target="/ppt/slideMasters/slideMaster1.xml" Id="R2192d5f6014a4e60" /><Relationship Type="http://schemas.openxmlformats.org/officeDocument/2006/relationships/notesMaster" Target="/ppt/notesMasters/notesMaster1.xml" Id="R41c1ef516a7b401e" /><Relationship Type="http://schemas.openxmlformats.org/officeDocument/2006/relationships/presProps" Target="/ppt/presProps.xml" Id="R193015356f5f4635" /><Relationship Type="http://schemas.openxmlformats.org/officeDocument/2006/relationships/tableStyles" Target="/ppt/tableStyles.xml" Id="R771988bc98054bb1" /><Relationship Type="http://schemas.openxmlformats.org/officeDocument/2006/relationships/slide" Target="/ppt/slides/slide1.xml" Id="R3fd6461f7b45447c" /><Relationship Type="http://schemas.openxmlformats.org/officeDocument/2006/relationships/slide" Target="/ppt/slides/slide2.xml" Id="R86edb33f51244c64" /><Relationship Type="http://schemas.openxmlformats.org/officeDocument/2006/relationships/slide" Target="/ppt/slides/slide3.xml" Id="R4edba7c2425d43d3" /><Relationship Type="http://schemas.openxmlformats.org/officeDocument/2006/relationships/slide" Target="/ppt/slides/slide4.xml" Id="R12754da2a28843ac" /><Relationship Type="http://schemas.openxmlformats.org/officeDocument/2006/relationships/slide" Target="/ppt/slides/slide5.xml" Id="R9ba00b6e8376485b" /><Relationship Type="http://schemas.openxmlformats.org/officeDocument/2006/relationships/slide" Target="/ppt/slides/slide6.xml" Id="R75921a2464754de3" /><Relationship Type="http://schemas.openxmlformats.org/officeDocument/2006/relationships/slide" Target="/ppt/slides/slide7.xml" Id="R32223895c9d94676" /><Relationship Type="http://schemas.openxmlformats.org/officeDocument/2006/relationships/slide" Target="/ppt/slides/slide8.xml" Id="R4766e7f6006e4cb5" /><Relationship Type="http://schemas.openxmlformats.org/officeDocument/2006/relationships/slide" Target="/ppt/slides/slide9.xml" Id="R758471d4945c41b1" /><Relationship Type="http://schemas.openxmlformats.org/officeDocument/2006/relationships/slide" Target="/ppt/slides/slide10.xml" Id="R8c075ca9d5294dc0" /><Relationship Type="http://schemas.openxmlformats.org/officeDocument/2006/relationships/slide" Target="/ppt/slides/slide11.xml" Id="R3efa74f5ce8844d0" /><Relationship Type="http://schemas.openxmlformats.org/officeDocument/2006/relationships/slide" Target="/ppt/slides/slide12.xml" Id="R87b54d08b71442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eb101c3ed04b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ce55ca6bb64c71" /><Relationship Type="http://schemas.openxmlformats.org/officeDocument/2006/relationships/notesMaster" Target="/ppt/notesMasters/notesMaster1.xml" Id="R24098635caec4e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67a4e29be84e51" /><Relationship Type="http://schemas.openxmlformats.org/officeDocument/2006/relationships/notesMaster" Target="/ppt/notesMasters/notesMaster1.xml" Id="R723e3715c0a34c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f0376d50c8478d" /><Relationship Type="http://schemas.openxmlformats.org/officeDocument/2006/relationships/notesMaster" Target="/ppt/notesMasters/notesMaster1.xml" Id="R05680a109b3a4f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12681ebccb43c8" /><Relationship Type="http://schemas.openxmlformats.org/officeDocument/2006/relationships/notesMaster" Target="/ppt/notesMasters/notesMaster1.xml" Id="Ra58a31dbdbef47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bfde215be840d6" /><Relationship Type="http://schemas.openxmlformats.org/officeDocument/2006/relationships/notesMaster" Target="/ppt/notesMasters/notesMaster1.xml" Id="R4769e312fb1949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26215622b44183" /><Relationship Type="http://schemas.openxmlformats.org/officeDocument/2006/relationships/notesMaster" Target="/ppt/notesMasters/notesMaster1.xml" Id="Rbf41cbeab8f646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d85f4fd3454022" /><Relationship Type="http://schemas.openxmlformats.org/officeDocument/2006/relationships/notesMaster" Target="/ppt/notesMasters/notesMaster1.xml" Id="Rc3a1b809f21b48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8ca82a8673459d" /><Relationship Type="http://schemas.openxmlformats.org/officeDocument/2006/relationships/notesMaster" Target="/ppt/notesMasters/notesMaster1.xml" Id="R03f632ba51fb4b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27fcd6f09049f8" /><Relationship Type="http://schemas.openxmlformats.org/officeDocument/2006/relationships/notesMaster" Target="/ppt/notesMasters/notesMaster1.xml" Id="Re9e8b9606e7046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e474d1101b4bfc" /><Relationship Type="http://schemas.openxmlformats.org/officeDocument/2006/relationships/notesMaster" Target="/ppt/notesMasters/notesMaster1.xml" Id="R0f190922892b4a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fb950e46a54261" /><Relationship Type="http://schemas.openxmlformats.org/officeDocument/2006/relationships/notesMaster" Target="/ppt/notesMasters/notesMaster1.xml" Id="R2f8dcc52068548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a2dc7a781e42b3" /><Relationship Type="http://schemas.openxmlformats.org/officeDocument/2006/relationships/notesMaster" Target="/ppt/notesMasters/notesMaster1.xml" Id="Rb8a32707405143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封面。画面来自真实运行的首页截图，右侧为四季黄经仪局部。作品不含学校、团队成员或指导教师等身份信息。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问题定义依据游戏内 24 组科学辨析与 docs/科学与数据来源.md。现代气象季节判据应与天文节气节点区分。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四段式核心循环对应游戏内四个阶段：观天、识候、辨误、修复。每段都设置错误扣精度、连击中断、提示扣分和重试。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观天段使用前端太阳视黄经算法作互动演示。正式历算以紫金山天文台等权威历书为准。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七十二候名称采用公开通行传统体系，游戏内注明其为古代观察记录，不直接等同于现代生物学或气象标准。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辨误内容区分天文节点、实际天气与古代记录性质。地区差异不等同于节气时刻差异，节气时刻全国一致。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评分：每段基础分受当前精度影响，错误扣 8% 精度并中断连击，提示扣 5%。900 分以上为三星。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主线为 24 个节气节点；每章 6 关节气完成后解锁章末综合试炼，试炼不挤占 24 个节气节点。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四个试炼分别为春序、夏序、秋序、冬序校准，包含 6 节气排序、3 组候证配对和 3 条科学陈述审校。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浏览器全流程测试覆盖 24 关、4 试炼、72 候、刷新续玩、错题路径、成果卡下载、390px 移动端和单文件离线版；测试中控制台无错误。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与前作/普通科普页的差异落实在机制、反馈、收藏、结局和技术实现上；仅参考公开节气数据与知识背景，不复制页面结构或交互模型。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结束页展示真实生成的成果卡。天文计算为近似演示；正式历算以紫金山天文台等权威机构发布的历书为准。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f3fa50fcb47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55c4345b904169" /><Relationship Type="http://schemas.openxmlformats.org/officeDocument/2006/relationships/slideLayout" Target="/ppt/slideLayouts/slideLayout1.xml" Id="Rd58e55f406b240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8e55f406b240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3cff4b3cb486b" /><Relationship Type="http://schemas.openxmlformats.org/officeDocument/2006/relationships/image" Target="/ppt/media/image.png" Id="Rb1d47c5a26bb4e97" /><Relationship Type="http://schemas.openxmlformats.org/officeDocument/2006/relationships/notesSlide" Target="/ppt/notesSlides/notesSlide1.xml" Id="R29834c2f08e04c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d5b9a8eba45dd" /><Relationship Type="http://schemas.openxmlformats.org/officeDocument/2006/relationships/notesSlide" Target="/ppt/notesSlides/notesSlide2.xml" Id="Rab6cd0bdb97141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4455ca4084ffd" /><Relationship Type="http://schemas.openxmlformats.org/officeDocument/2006/relationships/notesSlide" Target="/ppt/notesSlides/notesSlide3.xml" Id="R466e9a5a30e740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d212a8e4a470d" /><Relationship Type="http://schemas.openxmlformats.org/officeDocument/2006/relationships/image" Target="/ppt/media/image2.png" Id="Rc34813ee63f442ab" /><Relationship Type="http://schemas.openxmlformats.org/officeDocument/2006/relationships/notesSlide" Target="/ppt/notesSlides/notesSlide4.xml" Id="Rcb2d9874a52241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c166c196b41cd" /><Relationship Type="http://schemas.openxmlformats.org/officeDocument/2006/relationships/image" Target="/ppt/media/image3.png" Id="Redd8371a0ac44e66" /><Relationship Type="http://schemas.openxmlformats.org/officeDocument/2006/relationships/notesSlide" Target="/ppt/notesSlides/notesSlide5.xml" Id="R74283bbb33734d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3bdd8967a4006" /><Relationship Type="http://schemas.openxmlformats.org/officeDocument/2006/relationships/image" Target="/ppt/media/image4.png" Id="Rc882dc9a453345a9" /><Relationship Type="http://schemas.openxmlformats.org/officeDocument/2006/relationships/notesSlide" Target="/ppt/notesSlides/notesSlide6.xml" Id="Rf37f493ad2cd42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fe7e2add64a90" /><Relationship Type="http://schemas.openxmlformats.org/officeDocument/2006/relationships/image" Target="/ppt/media/image5.png" Id="Rded32c1f31384e4e" /><Relationship Type="http://schemas.openxmlformats.org/officeDocument/2006/relationships/notesSlide" Target="/ppt/notesSlides/notesSlide7.xml" Id="R5d541ec9819943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a03ac98f043aa" /><Relationship Type="http://schemas.openxmlformats.org/officeDocument/2006/relationships/notesSlide" Target="/ppt/notesSlides/notesSlide8.xml" Id="Rbc647d2fe86d43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d83382bb64f74" /><Relationship Type="http://schemas.openxmlformats.org/officeDocument/2006/relationships/image" Target="/ppt/media/image6.png" Id="R0478851e13a04dcb" /><Relationship Type="http://schemas.openxmlformats.org/officeDocument/2006/relationships/notesSlide" Target="/ppt/notesSlides/notesSlide9.xml" Id="R58d9a79752a845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0a9327d20453c" /><Relationship Type="http://schemas.openxmlformats.org/officeDocument/2006/relationships/image" Target="/ppt/media/image7.png" Id="R10f886478d4a4212" /><Relationship Type="http://schemas.openxmlformats.org/officeDocument/2006/relationships/notesSlide" Target="/ppt/notesSlides/notesSlide10.xml" Id="Rdfde4ee52b8c48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8edad35cc4cb8" /><Relationship Type="http://schemas.openxmlformats.org/officeDocument/2006/relationships/notesSlide" Target="/ppt/notesSlides/notesSlide11.xml" Id="Rff4e7ebfa8284f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3673a3ffb4a26" /><Relationship Type="http://schemas.openxmlformats.org/officeDocument/2006/relationships/image" Target="/ppt/media/image8.png" Id="R1d57e30be6eb499a" /><Relationship Type="http://schemas.openxmlformats.org/officeDocument/2006/relationships/notesSlide" Target="/ppt/notesSlides/notesSlide12.xml" Id="R824ee250e26b4a8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47c5a26bb4e97"/>
          <a:srcRect xmlns:a="http://schemas.openxmlformats.org/drawingml/2006/main" l="17689" t="0" r="176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EE7D1-0709-4656-99F7-BD0E8942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07131F"/>
              </a:gs>
              <a:gs pos="72000">
                <a:srgbClr val="07131F">
                  <a:alpha val="96000"/>
                </a:srgbClr>
              </a:gs>
              <a:gs pos="100000">
                <a:srgbClr val="07131F">
                  <a:alpha val="8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80E02-B555-442B-8386-6F4A09B4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71525"/>
            <a:ext cx="5410200" cy="5410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B5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DD78E-2F85-4CDD-85CC-A4646F35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978" y="1528953"/>
            <a:ext cx="3895344" cy="389534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B5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8CD77-99EE-448F-ACAD-79202824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406" y="2286381"/>
            <a:ext cx="2380488" cy="23804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B5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8EA88-18AD-4367-ABA0-0B909A6E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数字游戏作品 · 浏览器 2D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33BE6-1265-4BB1-976C-993CFD1F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5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5E700-7F60-4938-A1B3-EA04BADB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58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节气行旅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9B3B6-3676-43A4-B7F0-479A4279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二十四节气的物候解谜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FD9ED-97AB-4787-A56C-7F51B895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修复一座失去秩序的四季时钟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A283C-019E-478F-93AA-9E7D2646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观天  ·  识候  ·  辨误  ·  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EC015-8A6E-4FAC-8823-3E6D2D03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24 个节气关卡    72 候图鉴    4 个章末试炼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E35E1-1BBD-40B6-99C9-308D35D5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C6559-4994-4497-9F84-F36B1C0B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纯前端运行  ·  无登录  ·  无后端  ·  核心玩法可离线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CE87D-5AF7-442B-80F8-E401820C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007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学生原创参赛作品</a:t>
            </a:r>
          </a:p>
        </p:txBody>
      </p:sp>
    </p:spTree>
    <p:extLst>
      <p:ext uri="{BB962C8B-B14F-4D97-AF65-F5344CB8AC3E}">
        <p14:creationId xmlns:p14="http://schemas.microsoft.com/office/powerpoint/2010/main" val="403751259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C575A5-ED09-46A2-B132-FFD17F90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A3E97-AA46-4DE4-921A-D34EE6B0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5FD84-71A2-4C4D-B5A7-ACA3E021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95182-64C3-454E-A570-7E87354F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98902-D39F-4D19-ACEE-D25E13E1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WHY THIS GAME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A4642-0E77-4D77-823C-D316C3A3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三种混淆，让节气变成“背名称”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D3390-98A4-468E-920D-F431E88F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二十四节气连接太阳运动、物候和农事生活，但公众理解常停在名称记忆。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97668-BC52-46DE-8D92-50D61AE4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4191000" cy="419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94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970D5-56EE-49F6-847E-D91AC185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990" y="2205990"/>
            <a:ext cx="3017520" cy="3017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94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BD0C6-6F3C-4B21-8220-70465B54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30" y="2792730"/>
            <a:ext cx="1844040" cy="1844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94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2FF17-96E1-4D1D-B484-43EF21E6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E8C0E-7BD3-4EFE-BEED-C6ECA44F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天文节点 ≠ 当天天气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011B8-4C7F-4B66-BA15-948A76ED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立春、夏至由太阳黄经确定；入春、最热日还要看当地气温与热量累积。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DEAB7-750D-42CA-8239-D5335E5E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0350"/>
            <a:ext cx="9525" cy="2524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6ECBD-A3BF-4D54-BBA7-56D1B617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62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F620F-E15F-4BDC-89DB-2BFC7EED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575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古代物候 ≠ 现代定律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C9490-C77E-41C2-B61A-484EDC64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七十二候是有价值的观察体系，但不能直接等同于现代气象或生物学标准。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A33B1-0926-499D-A86F-B4A8C487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9525" cy="2524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382F5-1D34-43E4-8F3D-C257A95B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62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6A52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D96A52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81A11-E560-4B28-B3B7-7F503458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575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节气名称 ≠ 定量标准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F1A5D-A5CF-4A78-8C22-7152939A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“小雪”“大雨”等名称描述季节趋势，不是统一的降水量或天气等级。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CA04EB-B822-4860-A85E-D4A48E29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不是增加更多“知识点”，而是让玩家亲手校准这些边界。</a:t>
            </a:r>
          </a:p>
        </p:txBody>
      </p:sp>
    </p:spTree>
    <p:extLst>
      <p:ext uri="{BB962C8B-B14F-4D97-AF65-F5344CB8AC3E}">
        <p14:creationId xmlns:p14="http://schemas.microsoft.com/office/powerpoint/2010/main" val="715030716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3C2AB5-96AA-4E69-A496-7AF7C9A6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772DE-FBBC-488C-9EE9-7DE3892F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7A234-2938-4993-92DB-2FE08BB4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95D40-B15F-44B7-BBE1-95C1153E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D4C70-00AB-4A51-BA9D-E2EC4F1E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CORE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D7C17-FC31-4345-920D-47E3BF85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把知识变成一台需要校准的时轮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933BD-122D-42BC-A512-7DDA323B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每一关都是一次完整的仪器操作，不是阅读后点下一题。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1228B-A9F0-4781-87EA-1198A957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902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49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4147E-A7B4-433B-9DD7-50CE93CB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5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3C038-FB16-4C3D-9F36-E0B7A73F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观天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B1C31-F78C-4F89-B507-796BE659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419EA-D6A9-4CC0-BF92-40BEE4D5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旋转日轮，对准太阳视黄经 315°—300° 的节点刻度，再认节气印。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ADB5B-53CA-4BB2-9F9A-186945C7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3A9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71E62-E16E-48F8-A6F2-6C810205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识候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8DFED-15A4-43AF-882F-9AACDA0A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1DD21-DEF4-4A9B-82C5-A5F7AF07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 6 枚混合候牌中找出 3 枚，并按初候、二候、三候排序。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EF6E2-8EB8-4C82-87F6-44D9529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6A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A2798-4BD6-4364-8DF1-AEC5B03C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D96A52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D96A52"/>
                </a:solidFill>
                <a:latin typeface="STSong"/>
                <a:ea typeface="STSong"/>
                <a:cs typeface="STSong"/>
              </a:rPr>
              <a:t>辨误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2BFFF-8539-4EBA-BB07-084DF642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246A3-C390-4D61-9608-908DBEEA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 4 条材料中选出 2 条证据，让科学证据天平回到平衡。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80FCA-6627-4D12-A921-07FAF580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94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55FC5-1D76-415D-9B05-65037EC0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修复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F8DC6C-745B-40E9-AE26-D0B1E7D2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78B900-5131-4C5E-B4FF-180280B0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排列太阳位置到物候表现的 4 段因果链，启动节气时轮。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BEAC7-3705-454E-BA39-81032CB3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74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BC003-D8E3-455E-8B7C-1C8D0D35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67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FD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FDAA5"/>
                </a:solidFill>
                <a:latin typeface="Microsoft YaHei"/>
                <a:ea typeface="Microsoft YaHei"/>
                <a:cs typeface="Microsoft YaHei"/>
              </a:rPr>
              <a:t>目标   ·   线索   ·   操作   ·   即时反馈   ·   成功条件   ·   评分</a:t>
            </a:r>
          </a:p>
        </p:txBody>
      </p:sp>
    </p:spTree>
    <p:extLst>
      <p:ext uri="{BB962C8B-B14F-4D97-AF65-F5344CB8AC3E}">
        <p14:creationId xmlns:p14="http://schemas.microsoft.com/office/powerpoint/2010/main" val="14629116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A3C06-4822-40B4-A26E-343FA3F9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90DE5-0F0E-4407-80E8-44925B91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4432F-4BDE-4EBD-8AE9-26578346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EDAC5-FFA0-47B3-94F3-D99A435A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4705F-AE79-40FD-AC4B-136346F6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OBSERVE THE SUN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60FFD-4D52-4B06-9166-41118441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太阳黄经不是背景，而是第一道操作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813ee63f442ab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00250"/>
            <a:ext cx="6572250" cy="4562475"/>
          </a:xfrm>
          <a:prstGeom xmlns:a="http://schemas.openxmlformats.org/drawingml/2006/main" prst="roundRect">
            <a:avLst>
              <a:gd name="adj" fmla="val 20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95B50-1BC6-470D-BE56-300B4BA3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观测记录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D631F-3E6A-4010-AE35-034ACEB6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视黄经 315°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F7621-7BDB-44DA-B249-F0C614CC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直射点约南纬 11°</a:t>
            </a:r>
          </a:p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北半球昼渐长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E246B-FC94-4F5C-B1A3-4974DC84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386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6712A-19D5-4EAC-9ABE-62832428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529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±4°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A8903-8E43-48B4-BAD4-F35D0CFF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05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指针容差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E26CA-1D67-42DE-BEB9-7EF24507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529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4 选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8BE65-C408-4B9A-8E6F-87CEE668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05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节气印识别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730F6-39B9-4150-9706-58B7E01B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483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拖动 / 触屏滑杆 / 键盘方向键均可操作。锁定黄经后再辨认节气，让“天文位置—季节名称”形成一次可验证的动作。</a:t>
            </a:r>
          </a:p>
        </p:txBody>
      </p:sp>
    </p:spTree>
    <p:extLst>
      <p:ext uri="{BB962C8B-B14F-4D97-AF65-F5344CB8AC3E}">
        <p14:creationId xmlns:p14="http://schemas.microsoft.com/office/powerpoint/2010/main" val="1586256709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05E7442-7C23-46DD-9879-5437B6ED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015A8-242E-4876-8E3C-634F794C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75CE6-4E08-40B5-87BE-220004EE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711F8-3053-4C07-AA88-3850EF73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3B2A0-C99F-46BD-9DEC-60DA3BA5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READ THE PHENOLOGY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46813-680E-42C8-B876-FD9F20BF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七十二候，从阅读列表变成可收集的候牌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8371a0ac44e66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00250"/>
            <a:ext cx="6572250" cy="4562475"/>
          </a:xfrm>
          <a:prstGeom xmlns:a="http://schemas.openxmlformats.org/drawingml/2006/main" prst="roundRect">
            <a:avLst>
              <a:gd name="adj" fmla="val 20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2F466-AE9F-4FC0-8E64-29D5328F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2098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7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3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A04F1-17F1-49DA-9B8B-5757F191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从混合候牌中选出本节气的三候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12BDC-097E-4DBB-BFD8-E82F03C1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480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初 → 二 → 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A3CAD-78E4-483E-8FA2-4B540A1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386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再按传统候序放入观察槽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99842-ED95-46D3-AEFE-BC67D055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7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A7674-EE57-4455-8392-D7D87D93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721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候牌收入档案，形成完整物候图鉴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DCE23-1BF6-4DAD-B832-2AF430C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8B02D-69F1-4D99-BEDB-64677332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F6641-1A8B-407A-B4CE-68F5BEEF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C1E39-207C-46A2-9EB0-DE9128C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D5E0F-FA50-4A39-9454-6C7DC8C5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42D6B-B861-486E-90BA-D0584169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9331B-D566-411B-BA64-850D41E0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3CCCA2-7B84-4DDA-86FB-16865A1B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47DC6-8809-41BD-A750-6C92E64B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7012C5-B132-4A60-B521-E80411B7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E9143B-3412-495C-B8D1-B39CC6EB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A0348-78D3-4B80-9275-C17CF77B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288D61-8ED7-429A-A11A-45878BED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2AC2B-8314-4CB4-AA91-58DE07B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9B1B7-B235-451C-8630-BC548C28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87595-835B-4907-B257-B5C1B3D7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E0998-30C3-4AA3-8A15-9ABC3666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7636F5-8C52-4288-A660-14C4B322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6E9601-5654-4691-9AC7-F6ED818D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E3DE79-02AF-4BAF-B74E-60568A9E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509F73-6695-47DE-A034-BED3C1A8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3780A8-4552-4622-BDBF-7D57F267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FB73D0-B2E3-4EC1-BD16-9FFC70AF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8A4820-C539-45B0-A34A-D2F03D87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F58FA6-A576-425C-A52E-92AFDA1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8CF1E0-3E67-4ED1-9B3A-CBEC0D48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781524-91A1-4810-8C79-B64A53BF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F70FC8-C951-433F-9441-8964375F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949621-8F01-426E-801D-DED11E28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C457E6-159F-4DA9-B07F-710B4A61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7A3FE4-1EAA-48E3-8880-CFCDDE14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02D19E-5AED-41F9-B230-15ABE2B3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ECF823-CB14-44F3-BA55-23FBDA05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28188D-47F1-48CA-B3BE-858B178C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ABF10A-67FA-4420-B36D-DEA3C8DB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5257E9-D830-47E8-8CC3-FD5FDCC4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CA75F7-D646-4034-B2EB-2D539DC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761D16-B11B-445E-AD85-55950B58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2DE932-E4D5-4DFF-A4F2-7D5D348E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80091E-5BE6-45DE-8311-85DF2937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30C430-DEED-4CF3-83AF-BF7D0561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62EB1B-E94E-4564-903C-51A7BBCC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B81E76-55A0-4F2F-80E7-163C707C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ED4A7F-8C8D-4971-8874-EC0A9ED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DAEE75-2A2B-4982-B50A-8F5AEB4B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98A6EE-D50B-4286-BF44-C1493D74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DBD68E-59A1-466F-B502-0BBBD48A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7939DA-FA6B-4EBC-AE4E-3EBE5E66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31913D-C71B-45DD-AC29-79E60D0C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A89C62-920A-469D-954B-53FAB2D2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26A11E-2638-4196-BD33-E2B30637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662047-2A6B-46A1-84F0-62C13E1B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6F2220-9DED-4D99-8AFB-9913E101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80D3A8-A9DA-45CC-B8FF-1DE6A9B1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9F06200-CA3A-45D6-9D96-244FB714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F9D620-320F-455E-BCCA-F00AE98E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245638-2A35-404A-B151-C76AF648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161BAF-9B41-4920-8349-B1083E41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401386-1F57-4190-AD8F-2A78B96D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71BBA3-3D86-41C3-9F03-F080841E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2A14A26-9422-4B6A-BEDC-5C02E76F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16361F-BF34-4B49-8924-26230756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D2E2CB-6FAB-4F10-A27D-CADCD7AE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192F3DE-9067-4D80-80C1-38811CC7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6990C1-922C-4D69-9BD9-52BD3EBA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462E663-7A08-4DC1-8CE9-9A847546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49DC37B-ED57-4B28-BE34-44A0D80B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3933F8-DFBF-4277-9A23-62C0726D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40D943-DFFF-483E-BA29-D5C9A54B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E278497-1215-4772-B64C-A4B8F09A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F17DDDF-DDAA-414C-AB94-03254261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8DF43E0-5EDE-43F8-8921-EA8D24E2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870332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EFF37-5DF2-47A1-B52E-5AD7EAB3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106A3-1058-4F34-946E-CE9B22F0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5F3D3-C071-4019-A98A-0DBD5ED5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D0C23-2D6F-4296-8ED6-31D2643A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EEE84-9B35-4C0C-9E5D-48312F63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WEIGH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59B7D-4928-4180-999D-AC0A5600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证据天平，把“传统”与“现代解释”分开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2dc9a453345a9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1809750"/>
            <a:ext cx="5295900" cy="3676650"/>
          </a:xfrm>
          <a:prstGeom xmlns:a="http://schemas.openxmlformats.org/drawingml/2006/main" prst="roundRect">
            <a:avLst>
              <a:gd name="adj" fmla="val 25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A2857-6EF4-4F23-875E-77AC67C9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rPr>
              <a:t>待辨析命题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7B25B-8A19-4C9E-89CB-99ACA1B8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80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“立春一到，全国就同时进入气象学意义上的春天。”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1BCF0-1ED4-4ED5-B90D-AB5878A6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证据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EA5E8-7804-4566-8609-D789C2DB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004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节气按太阳视黄经划分，不直接决定各地实时气温。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EE462-E04B-4767-9BCA-0967ABFF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证据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186B8-C3A1-41F0-9E5B-FE341B5B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958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中国南北跨度大，同一节气内的气温和物候差异显著。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2E74E-22D7-4F0C-BE2D-8C3A82DF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错误选择会进入“证据回廊”，答对后标记为“已校正”。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8381D-2425-4BF9-9E6B-3BE7611C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4141995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80C096-E565-4207-83F8-CEACACFF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D760F-9E5C-4995-B3FB-15594861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017CA-A2F2-4A5D-BDE5-3CF2AD17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A3095-8342-4C35-B7E1-FD0C9A9E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6ED61-6F02-4042-96AC-4CBC0AEE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REPAIR THE CLOCK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BACA9-BC95-49CE-A18A-5FF4FC64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四段因果链，才是本关的最后机关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32c1f31384e4e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62150"/>
            <a:ext cx="6572250" cy="4562475"/>
          </a:xfrm>
          <a:prstGeom xmlns:a="http://schemas.openxmlformats.org/drawingml/2006/main" prst="roundRect">
            <a:avLst>
              <a:gd name="adj" fmla="val 20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A452F-200D-4FDA-8D60-C0F93E6D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57400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F75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5CC26-2F2E-4BD7-BF88-7359B4D1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71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22869-D703-4A6D-B8D7-615E4A81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太阳视黄经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4D4E0-36B8-4DB5-884B-315500C7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到达本节气对应刻度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0228B-EC39-48F0-BAD1-A7588A45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95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6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EA08C-58CA-4C45-B9A2-0352ADD3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57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F75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FA124-753B-4B89-9A97-D99EA6DA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718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5108F-22DE-4DB2-8346-81456C7C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直射与昼夜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8801B-87EF-4193-B1EF-3E036FFD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太阳高度、昼长发生变化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71C7B-500D-4E54-AAAC-8F7FB0C5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95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6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BD141-430B-4416-BB4A-B90DCB4A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57650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F75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4BF67-9228-47B4-A4D3-8D6AB8F6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71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75730-CF0A-4B90-99B7-25C201B3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7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地表与大气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232C3-B3C1-4652-8FD9-476E43C8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热量、水汽与环流响应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EE36D-8B9A-4F2C-ADDF-AB7FA09A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95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6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8A5CC-3B3B-4E7C-8E26-F47124D8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5777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3A9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E0D9E8-F478-4223-9EE6-457FAAA5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172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FE1477-534D-4B83-B7FF-6A950D27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768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物候表现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92180-E153-4235-AEB4-A5F42DA0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81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萌发、鸣叫、迁徙或凝结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7B990-10A7-4BC9-AAC6-EDEBA466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6115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87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1000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0EF23D-20E7-4BEF-9EF8-5FD0BD4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1817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满分</a:t>
            </a:r>
          </a:p>
        </p:txBody>
      </p:sp>
    </p:spTree>
    <p:extLst>
      <p:ext uri="{BB962C8B-B14F-4D97-AF65-F5344CB8AC3E}">
        <p14:creationId xmlns:p14="http://schemas.microsoft.com/office/powerpoint/2010/main" val="162254338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6F6D87-E223-4B80-BEAE-BEF89A93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9EF04-A423-4C70-96CD-7DE9D763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关卡结构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505E4-A26D-4EA8-8DD1-20B7AB86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872C5-8C3E-49F0-9B64-38C5767B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09B54-0E40-4FE6-B1FF-BA60EDB8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24 TERM NODES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DFD7F-BF29-43D0-9D07-34424FF8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24 个节点构成可逐章解锁的四季星图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A290-DF5E-4E2D-9C36-3ADCA4E1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每个季节 6 个节气关，再追加 1 个章末综合试炼。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ECD32-5EFF-41FD-AC6E-80C11BD5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31F8E-5872-46B1-BB4A-C245481C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春章 · 启蛰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9EA68-CC45-45F9-9DCD-D92001D9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3A9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AC6F9-ACD7-4383-9683-8A7CB169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62560-B6D6-4898-AF92-5D535F25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97102-77F6-45D5-B07C-B501A4D3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AC266-A058-4D88-98DC-BCF0C021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雨水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5A2BD-DBE5-4AFA-BFB0-B2929D3F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6C2B7-D33F-40ED-A9E5-9CE38EC3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惊蛰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E1FCE-B592-4284-A59A-7DC019A3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A8449-D009-4E8B-B763-44A6D937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春分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87C01-E611-4392-A0A3-00F44B08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96448-25DF-4656-BCD1-B73F2FA3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清明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72D2F-5CC3-4BF2-9E01-79A0F08A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8D2B6B-2CF4-436C-8159-F65EDD89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谷雨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209AFC-1EE5-4CA7-8460-20D4D048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253BF8-EFC2-4708-BC74-FD3D8964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3719B-3002-4EE7-A150-F475E865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6A46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D06A46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1D4C5-92CD-43F1-BCC7-42CBD266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06A46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D06A46"/>
                </a:solidFill>
                <a:latin typeface="STSong"/>
                <a:ea typeface="STSong"/>
                <a:cs typeface="STSong"/>
              </a:rPr>
              <a:t>夏章 · 长明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13321-AA44-4CBD-919E-CB415ABC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6A4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EFA61-02E1-43D7-B21A-67BF41CD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942711-F5A1-4DE2-B531-1A41EEDE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B4F7A2-AF63-4B3B-86F3-2445A56B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288E0C-0292-4D6A-8C95-6F5096AF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FA2E28-1657-4C1F-8332-1C715F92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CBB8BF-DCCF-4D96-8EE2-22DEE01B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芒种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720271-8B93-4FF7-941B-872A722A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AED6FC-CC30-4D2A-895A-65716E47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夏至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10DB81-38E9-4651-8866-C505BAD6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49BA05-EB90-42C4-8042-558B6FB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6289A7-9A77-4ED2-859D-043449F9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1629FC-A808-43CD-A192-8ED94CA0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大暑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521699-DB53-4C1B-BD74-87BD81D9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1C6963-7CCB-4252-9497-106FF692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C60257-8541-4439-AED5-11036E05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09A50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C09A50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599686-027A-47BF-9A24-3940486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09A50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C09A50"/>
                </a:solidFill>
                <a:latin typeface="STSong"/>
                <a:ea typeface="STSong"/>
                <a:cs typeface="STSong"/>
              </a:rPr>
              <a:t>秋章 · 敛藏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8D33E5-5C7A-4B7F-9F24-A1BE4D7D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9A5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0B3D04-4C57-4530-A7E0-A223AEFC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4369A2-2535-48E0-BF42-ABCF66DB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4D1409-72CD-4154-B5A8-FA05A42E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E57243-873B-4837-BDEB-6FE0269C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处暑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266D93-1FD0-4BFD-B2C7-E3369069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27E854-23D0-4EF7-B545-E9DD838B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白露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4B3DA7-D1EB-411A-A6B7-31ADA6E9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4B7BBA-474F-4E91-BF9A-A01FBE6E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秋分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7656AB-7B45-4535-81FC-DE751C55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5240E6-8DB7-4354-BA9F-210B4944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寒露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93B2E1-23DB-4A84-A454-BF7C796D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AC3CAA-D2D0-49F0-BD71-36693DC8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霜降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FE7388-AAF8-4C3C-AB67-BFDB6E78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208495-9115-4536-BCAD-E25F6730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5F30C0-BBBF-4F7C-9B67-B250F46E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04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8C684B-DFC7-4D08-8140-CE0DEB1B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冬章 · 归根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14BC80-5F94-447B-A5D0-749056C5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94A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502B9A-C3B5-4202-98C5-2CF47B6D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333540B-B942-4543-BDF5-F4EF0BF2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立冬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26C59D-A00C-48B4-9B45-9FECF49A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27DC65-38B0-4E49-B510-11152442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小雪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EB20A4-E4CB-4552-B431-0A05EAC6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7C5077-A58E-4258-A64A-FC32257B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大雪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25A34D1-2FCF-4836-A837-61F8F8CC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9ABA0B-8D8D-4C4D-A766-CB927FD3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冬至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085677-8225-4169-A20E-A8B21F4D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34ABB6-AA7D-48AA-AD8C-295F1F0E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小寒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F292A59-1655-4567-B676-A16ED366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DF39D3-7427-4EA6-9702-A354283A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大寒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A996AEE-AE4A-425D-ADEC-0F2C9D14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397505A-CD08-42D7-BCD4-B6C5313C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</p:spTree>
    <p:extLst>
      <p:ext uri="{BB962C8B-B14F-4D97-AF65-F5344CB8AC3E}">
        <p14:creationId xmlns:p14="http://schemas.microsoft.com/office/powerpoint/2010/main" val="565801609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4FF7A-E9B2-41F1-9A96-D85849BB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F705E-0FD3-46C4-A7A9-2A28E2FD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综合挑战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63E22-6E58-46BF-BDF7-77025149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585F7-4165-48DF-8E53-0FEEDA55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EBB03-40D8-4E45-8A99-11716184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CHAPTER 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6441C-C5C9-485F-89DE-9DFE5398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章末试炼检验的不是记忆，而是整章关系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53009-C104-49DB-8855-DCFEE343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从星序、候证到科学审校，将本章知识重新组合。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8851e13a04dcb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28825"/>
            <a:ext cx="6534150" cy="4533900"/>
          </a:xfrm>
          <a:prstGeom xmlns:a="http://schemas.openxmlformats.org/drawingml/2006/main" prst="roundRect">
            <a:avLst>
              <a:gd name="adj" fmla="val 210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E934B-6CB8-4F93-A2C0-32E5548A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47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94E3B-D23A-4D82-AC73-033683AE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38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星序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F3991-72E9-4DE6-9EE6-D4936FB4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03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按太阳视黄经顺序重连本章 6 个节气。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C3D98-AE63-41D3-A732-C4161635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734BB-868B-4678-8C8D-0BD6500C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72CDD-FC9C-4DA4-97B3-FF14DF5C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95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候证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568A2-A363-489A-AEF7-81354B22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576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为 3 个节点找到正确候牌，跨节点辨认物候。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3E427-B895-4124-8429-B7086162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958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A8360-48C7-40B7-A04A-0A11FEC3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32091-7F62-48F3-A5B1-0BD687E3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529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万象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3DC55-6F17-4762-86AF-E0912107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149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 5 条陈述中选出 3 条可靠结论。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B095B-62B8-4702-B863-EDA0211B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7531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5DEE9-C80E-482F-B36D-0813EF89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960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4 个章末印记，独立记录最佳分与星级。</a:t>
            </a:r>
          </a:p>
        </p:txBody>
      </p:sp>
    </p:spTree>
    <p:extLst>
      <p:ext uri="{BB962C8B-B14F-4D97-AF65-F5344CB8AC3E}">
        <p14:creationId xmlns:p14="http://schemas.microsoft.com/office/powerpoint/2010/main" val="1140554455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87544-A639-4397-8F06-C9DCB9F1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5169E-2BA9-42DB-8FA4-6E185FCE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游戏反馈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A06E9-EAF5-4160-A95D-4298E369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BF1BE-3FFE-4E9C-BA1F-92B5A97D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2F0D1-A501-4C0D-B2E6-7C25A480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SYSTEM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C5CA6-51CF-4E9E-9615-C2965F48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反馈、存档与图鉴构成完整游戏闭环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886478d4a4212"/>
          <a:srcRect xmlns:a="http://schemas.openxmlformats.org/drawingml/2006/main" l="62" t="0" r="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400" y="1438275"/>
            <a:ext cx="4876800" cy="3390900"/>
          </a:xfrm>
          <a:prstGeom xmlns:a="http://schemas.openxmlformats.org/drawingml/2006/main" prst="roundRect">
            <a:avLst>
              <a:gd name="adj" fmla="val 280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9D959-3519-4C01-8104-38B033B0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9003E-EA1C-4746-99ED-28D7B562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节气节点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FE5A3-F87D-478E-AB71-823B2D51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46405-DE2E-4505-A295-F8920ED9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52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物候候牌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FF7EA-A08D-4D3E-A694-454CD6B2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057CF-167C-4045-8250-FC9D915F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章末印记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5F185-3A6D-4282-B68C-89003ADA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连击 · 精度 · 时轮分 · 星级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5EFCA-1238-48CE-AC87-AB66C10C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进度、最佳成绩、图鉴、错题与未完成检查点写入 localStorage。刷新后从上一完成阶段继续。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3C491-90EB-4CB0-BF44-D5FEA679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CD229-1E92-4488-8C0B-0B092DF1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78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手机 390px 无横向溢出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02B7B-4D9B-4091-BEED-2DF9D82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97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单文件离线版无网络请求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17A25-37A5-4875-A5AC-0ADE5A4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817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成果卡由 Canvas 生成 PNG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5E28DF-0916-45E3-9090-6FA97E97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244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真实截屏</a:t>
            </a:r>
          </a:p>
        </p:txBody>
      </p:sp>
    </p:spTree>
    <p:extLst>
      <p:ext uri="{BB962C8B-B14F-4D97-AF65-F5344CB8AC3E}">
        <p14:creationId xmlns:p14="http://schemas.microsoft.com/office/powerpoint/2010/main" val="1821598492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CE0F6B-7073-47AC-8E47-26D5D115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CE3E2-5479-4355-A6D1-1A485A10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原创与实现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E225D-2767-4761-B9B8-4DD916FE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9FCFE-2832-4E0E-8EA9-BF3D13B9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70484-7E8B-49F1-B818-532CD5E6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WHY IT IS DIFFERENT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720F9-B05C-4D55-9949-F88343E9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机制差异：从科普阅读转向可玩的时间仪器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DB9A2-60DA-48CE-BD23-CC908FBD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8B6AA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B8B6AA"/>
                </a:solidFill>
                <a:latin typeface="STSong"/>
                <a:ea typeface="STSong"/>
                <a:cs typeface="STSong"/>
              </a:rPr>
              <a:t>科普阅读型项目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A7020-77A1-461F-A495-7F6E9DD3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节气行旅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9E016-5669-455E-ADA8-C11EBD07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主结构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2D242-F0D2-4BE4-AFE4-B9AB5C56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575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长页 / 卡片 / 查询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555B8-FEEA-472D-9028-5896C33E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575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四季星图与节点解锁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51D25-E00E-489E-9756-400D8CB4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29079-1146-4B17-9C43-48F0129C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19475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FD893-F64B-460D-89A3-394CB65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核心动作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DA6AA-A7CB-4C59-A1F1-43D185AF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57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阅读、测验、浏览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121F3-108D-45A4-AF90-2E45D31C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校准、筛选、排序、修复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358BA-FA33-4635-B96D-35B95EC6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742C1-0583-4F28-AD65-BC15D0FC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9550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A46C2-A9E2-4D08-AD17-53CC4B4B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31250-B58B-472D-BFF6-547BF175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576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对错与积分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A8D61-72D7-469C-9B70-F000FCD2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7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精度、连击、星级、章节印记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93FF9-0063-44E2-A5C7-8632A1E6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BDFB1-A6EB-415A-890B-E274BD25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9625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523B0-4DD3-4D74-8D1F-55593BE3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收藏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66E70-F2E8-4FD6-B727-FDE83D5C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57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静态候表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D8A4C-6146-49EE-B3FC-FA34145C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57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关卡内候牌收集与 72 候图鉴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9DD931-8B38-4C96-ABD4-388A6590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FD62B-49EC-4527-9099-6DB86E7B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9700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96E414-0FA5-4FED-8250-B66826A9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结局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3CEA90-4295-4957-B45B-281691F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57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阅读记录页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38F38C-3C9D-4B90-98C8-A66A204E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578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Canvas 时间行旅 PNG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235A5C-0BE0-4921-B9E0-1FF76B0B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0A714E-7683-4E1A-9E7F-94BF1777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819775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06E478-2111-4539-983C-A0C40945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技术：HTML5 + CSS3 + 原生 JavaScript + SVG + Canvas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7ED6D9-124D-4BBE-8FE1-254EAB22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2674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无第三方运行时库 · 无外部 AI API · 无后端</a:t>
            </a:r>
          </a:p>
        </p:txBody>
      </p:sp>
    </p:spTree>
    <p:extLst>
      <p:ext uri="{BB962C8B-B14F-4D97-AF65-F5344CB8AC3E}">
        <p14:creationId xmlns:p14="http://schemas.microsoft.com/office/powerpoint/2010/main" val="300315516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18306-C757-452D-82F9-ADFC12E8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1AB86-366A-47F0-9E94-768CB776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4ED68-4930-46AE-8E85-EEFA4CA0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14D9C-3680-46B1-8FFF-4523D8CE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6A121-CFDE-4496-9ED9-F9BB3967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观天有度，识候有信，辨误有据。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37854-6218-45D0-9484-538B1BA7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通关后生成不含身份信息的“时间行旅”成果卡。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7e30be6eb499a"/>
          <a:stretch xmlns:a="http://schemas.openxmlformats.org/drawingml/2006/main"/>
        </p:blipFill>
        <p:spPr>
          <a:xfrm xmlns:a="http://schemas.openxmlformats.org/drawingml/2006/main">
            <a:off x="6172200" y="1609990"/>
            <a:ext cx="5238750" cy="3638021"/>
          </a:xfrm>
          <a:prstGeom xmlns:a="http://schemas.openxmlformats.org/drawingml/2006/main" prst="roundRect">
            <a:avLst>
              <a:gd name="adj" fmla="val 22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DC26E-AD50-43AF-A1F0-33F1DA8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24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69B51-0FED-485C-B96F-60F8E763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节气节点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FE75C-4E6E-45D3-BEDA-BAB3DCAE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72 / 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E5CAF-CC33-4555-B0C9-9BB6FB18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物候收录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75EBC-F330-4D7C-86DB-5CADAB05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4 /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28444-88A5-466F-9194-D7D6BCA8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章末试炼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CD440-B9CA-4194-92D6-6B995C66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四季时钟已复原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A4F0F-5BC9-4747-933B-71194F9A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可玩  ·  可辨  ·  可带走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A66EF-4127-4A7B-9557-F7DBC794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440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77DE8-5C5A-4822-A8CA-9AB4D6D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正式历算以紫金山天文台等权威历书为准</a:t>
            </a:r>
          </a:p>
        </p:txBody>
      </p:sp>
    </p:spTree>
    <p:extLst>
      <p:ext uri="{BB962C8B-B14F-4D97-AF65-F5344CB8AC3E}">
        <p14:creationId xmlns:p14="http://schemas.microsoft.com/office/powerpoint/2010/main" val="1524437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2026-10-25T13:33:07.7390000Z</dcterms:created>
  <dcterms:modified xsi:type="dcterms:W3CDTF">2026-10-25T13:33:07.7390000Z</dcterms:modified>
</coreProperties>
</file>