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46d24637cf4bbc" /><Relationship Type="http://schemas.openxmlformats.org/officeDocument/2006/relationships/extended-properties" Target="/docProps/app.xml" Id="R64c22ba353744737" /><Relationship Type="http://schemas.openxmlformats.org/officeDocument/2006/relationships/officeDocument" Target="/ppt/presentation.xml" Id="R2f9b54352934406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6a4d9bfabcc4598"/>
  </p:sldMasterIdLst>
  <p:notesMasterIdLst>
    <p:notesMasterId xmlns:r="http://schemas.openxmlformats.org/officeDocument/2006/relationships" r:id="R40a6fe19f66c410d"/>
  </p:notesMasterIdLst>
  <p:sldIdLst>
    <p:sldId xmlns:r="http://schemas.openxmlformats.org/officeDocument/2006/relationships" id="256" r:id="R55e5773bc7804b53"/>
    <p:sldId xmlns:r="http://schemas.openxmlformats.org/officeDocument/2006/relationships" id="257" r:id="R22e69a21a0564ab6"/>
    <p:sldId xmlns:r="http://schemas.openxmlformats.org/officeDocument/2006/relationships" id="258" r:id="Rbb5ad99f8baf4b71"/>
    <p:sldId xmlns:r="http://schemas.openxmlformats.org/officeDocument/2006/relationships" id="259" r:id="R7cea49d318df4bff"/>
    <p:sldId xmlns:r="http://schemas.openxmlformats.org/officeDocument/2006/relationships" id="260" r:id="R9b551f6982ef4862"/>
    <p:sldId xmlns:r="http://schemas.openxmlformats.org/officeDocument/2006/relationships" id="261" r:id="Rf24f339af7d6475b"/>
    <p:sldId xmlns:r="http://schemas.openxmlformats.org/officeDocument/2006/relationships" id="262" r:id="Rbf9119b9e224430f"/>
    <p:sldId xmlns:r="http://schemas.openxmlformats.org/officeDocument/2006/relationships" id="263" r:id="Rea7cd2ff5fb64be8"/>
    <p:sldId xmlns:r="http://schemas.openxmlformats.org/officeDocument/2006/relationships" id="264" r:id="Rebfb9832c5024614"/>
    <p:sldId xmlns:r="http://schemas.openxmlformats.org/officeDocument/2006/relationships" id="265" r:id="R31871ac1005047cc"/>
    <p:sldId xmlns:r="http://schemas.openxmlformats.org/officeDocument/2006/relationships" id="266" r:id="R1aaf68d9dc6c4c18"/>
    <p:sldId xmlns:r="http://schemas.openxmlformats.org/officeDocument/2006/relationships" id="267" r:id="R3255fe34120f4e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de41c9624ae47ba" /><Relationship Type="http://schemas.openxmlformats.org/officeDocument/2006/relationships/slideMaster" Target="/ppt/slideMasters/slideMaster1.xml" Id="R76a4d9bfabcc4598" /><Relationship Type="http://schemas.openxmlformats.org/officeDocument/2006/relationships/notesMaster" Target="/ppt/notesMasters/notesMaster1.xml" Id="R40a6fe19f66c410d" /><Relationship Type="http://schemas.openxmlformats.org/officeDocument/2006/relationships/presProps" Target="/ppt/presProps.xml" Id="R189678f80ae748f4" /><Relationship Type="http://schemas.openxmlformats.org/officeDocument/2006/relationships/tableStyles" Target="/ppt/tableStyles.xml" Id="R3e316e8363cc4186" /><Relationship Type="http://schemas.openxmlformats.org/officeDocument/2006/relationships/slide" Target="/ppt/slides/slide1.xml" Id="R55e5773bc7804b53" /><Relationship Type="http://schemas.openxmlformats.org/officeDocument/2006/relationships/slide" Target="/ppt/slides/slide2.xml" Id="R22e69a21a0564ab6" /><Relationship Type="http://schemas.openxmlformats.org/officeDocument/2006/relationships/slide" Target="/ppt/slides/slide3.xml" Id="Rbb5ad99f8baf4b71" /><Relationship Type="http://schemas.openxmlformats.org/officeDocument/2006/relationships/slide" Target="/ppt/slides/slide4.xml" Id="R7cea49d318df4bff" /><Relationship Type="http://schemas.openxmlformats.org/officeDocument/2006/relationships/slide" Target="/ppt/slides/slide5.xml" Id="R9b551f6982ef4862" /><Relationship Type="http://schemas.openxmlformats.org/officeDocument/2006/relationships/slide" Target="/ppt/slides/slide6.xml" Id="Rf24f339af7d6475b" /><Relationship Type="http://schemas.openxmlformats.org/officeDocument/2006/relationships/slide" Target="/ppt/slides/slide7.xml" Id="Rbf9119b9e224430f" /><Relationship Type="http://schemas.openxmlformats.org/officeDocument/2006/relationships/slide" Target="/ppt/slides/slide8.xml" Id="Rea7cd2ff5fb64be8" /><Relationship Type="http://schemas.openxmlformats.org/officeDocument/2006/relationships/slide" Target="/ppt/slides/slide9.xml" Id="Rebfb9832c5024614" /><Relationship Type="http://schemas.openxmlformats.org/officeDocument/2006/relationships/slide" Target="/ppt/slides/slide10.xml" Id="R31871ac1005047cc" /><Relationship Type="http://schemas.openxmlformats.org/officeDocument/2006/relationships/slide" Target="/ppt/slides/slide11.xml" Id="R1aaf68d9dc6c4c18" /><Relationship Type="http://schemas.openxmlformats.org/officeDocument/2006/relationships/slide" Target="/ppt/slides/slide12.xml" Id="R3255fe34120f4e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bc0df681ab944d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3cd5eb824a4d7b" /><Relationship Type="http://schemas.openxmlformats.org/officeDocument/2006/relationships/notesMaster" Target="/ppt/notesMasters/notesMaster1.xml" Id="R4396aaed53ae4d6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ea0c77bc99e45a7" /><Relationship Type="http://schemas.openxmlformats.org/officeDocument/2006/relationships/notesMaster" Target="/ppt/notesMasters/notesMaster1.xml" Id="Rb526426b04124ca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b392e52e07406b" /><Relationship Type="http://schemas.openxmlformats.org/officeDocument/2006/relationships/notesMaster" Target="/ppt/notesMasters/notesMaster1.xml" Id="Rf635f17451164b8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f8a263e13bc4c55" /><Relationship Type="http://schemas.openxmlformats.org/officeDocument/2006/relationships/notesMaster" Target="/ppt/notesMasters/notesMaster1.xml" Id="R63750244aaf242a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3022edc1f2d4480" /><Relationship Type="http://schemas.openxmlformats.org/officeDocument/2006/relationships/notesMaster" Target="/ppt/notesMasters/notesMaster1.xml" Id="R44ab8394c5194d6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9ae6a1e65c3491c" /><Relationship Type="http://schemas.openxmlformats.org/officeDocument/2006/relationships/notesMaster" Target="/ppt/notesMasters/notesMaster1.xml" Id="R124572b722d44ce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8a300899de47fe" /><Relationship Type="http://schemas.openxmlformats.org/officeDocument/2006/relationships/notesMaster" Target="/ppt/notesMasters/notesMaster1.xml" Id="R38e2b0471afc487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fadfe312474d4a" /><Relationship Type="http://schemas.openxmlformats.org/officeDocument/2006/relationships/notesMaster" Target="/ppt/notesMasters/notesMaster1.xml" Id="R0d8d71b662ca4e1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9b08092237244bd" /><Relationship Type="http://schemas.openxmlformats.org/officeDocument/2006/relationships/notesMaster" Target="/ppt/notesMasters/notesMaster1.xml" Id="R9bd32680dee94d5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d4e5619dbd841aa" /><Relationship Type="http://schemas.openxmlformats.org/officeDocument/2006/relationships/notesMaster" Target="/ppt/notesMasters/notesMaster1.xml" Id="Re38cfd76cb9a435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a9c98852afb4cfe" /><Relationship Type="http://schemas.openxmlformats.org/officeDocument/2006/relationships/notesMaster" Target="/ppt/notesMasters/notesMaster1.xml" Id="Rac50537dc2644ae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6af9f386f6c44c50" /><Relationship Type="http://schemas.openxmlformats.org/officeDocument/2006/relationships/notesMaster" Target="/ppt/notesMasters/notesMaster1.xml" Id="Raa76e7e77b7d4b8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封面。画面来自真实运行的首页截图，右侧为四季黄经仪局部。作品不含学校、团队成员或指导教师等身份信息。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问题定义依据游戏内 24 组科学辨析与 docs/科学与数据来源.md。现代气象季节判据应与天文节气节点区分。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四段式核心循环对应游戏内四个阶段：观天、识候、辨误、修复。每段都设置错误扣精度、连击中断、提示扣分和重试。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观天段使用前端太阳视黄经算法作互动演示。正式历算以紫金山天文台等权威历书为准。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七十二候名称采用公开通行传统体系，游戏内注明其为古代观察记录，不直接等同于现代生物学或气象标准。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辨误内容区分天文节点、实际天气与古代记录性质。地区差异不等同于节气时刻差异，节气时刻全国一致。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评分：每段基础分受当前精度影响，错误扣 8% 精度并中断连击，提示扣 5%。900 分以上为三星。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主线为 24 个节气节点；每章 6 关节气完成后解锁章末综合试炼，试炼不挤占 24 个节气节点。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四个试炼分别为春序、夏序、秋序、冬序校准，包含 6 节气排序、3 组候证配对和 3 条科学陈述审校。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浏览器全流程测试覆盖 24 关、4 个章末试炼、72 候、刷新续玩、错题路径、成果卡下载、390px 移动端和单文件离线版；控制台无错误。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与前作/普通科普页的差异落实在机制、反馈、收藏、结局和技术实现上；仅参考公开节气数据与知识背景，不复制页面结构或交互模型。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结束页展示真实生成的成果卡。天文计算为近似演示；正式历算以紫金山天文台等权威机构发布的历书为准。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b4d0e74464c6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3c0024ecca4d9a" /><Relationship Type="http://schemas.openxmlformats.org/officeDocument/2006/relationships/slideLayout" Target="/ppt/slideLayouts/slideLayout1.xml" Id="R2984104f404a41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84104f404a41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f1728a34f04844" /><Relationship Type="http://schemas.openxmlformats.org/officeDocument/2006/relationships/image" Target="/ppt/media/image.png" Id="Rc38b51a14d974ed4" /><Relationship Type="http://schemas.openxmlformats.org/officeDocument/2006/relationships/notesSlide" Target="/ppt/notesSlides/notesSlide1.xml" Id="R8c5d51fd464c40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8f276a65a24e65" /><Relationship Type="http://schemas.openxmlformats.org/officeDocument/2006/relationships/notesSlide" Target="/ppt/notesSlides/notesSlide2.xml" Id="R42686db05ec44d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fd454f1890432a" /><Relationship Type="http://schemas.openxmlformats.org/officeDocument/2006/relationships/notesSlide" Target="/ppt/notesSlides/notesSlide3.xml" Id="Rfcd63ac7fdc640b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e47763d65d4df9" /><Relationship Type="http://schemas.openxmlformats.org/officeDocument/2006/relationships/image" Target="/ppt/media/image2.png" Id="R88fd31d0b606488e" /><Relationship Type="http://schemas.openxmlformats.org/officeDocument/2006/relationships/notesSlide" Target="/ppt/notesSlides/notesSlide4.xml" Id="R8e3d4c2b6b344a2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a3b98ec7174379" /><Relationship Type="http://schemas.openxmlformats.org/officeDocument/2006/relationships/image" Target="/ppt/media/image3.png" Id="Ra48edbc2d9204f00" /><Relationship Type="http://schemas.openxmlformats.org/officeDocument/2006/relationships/notesSlide" Target="/ppt/notesSlides/notesSlide5.xml" Id="R3f1e88b20b854bf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046338f8e14a6c" /><Relationship Type="http://schemas.openxmlformats.org/officeDocument/2006/relationships/image" Target="/ppt/media/image4.png" Id="R5f4c3ac530154b91" /><Relationship Type="http://schemas.openxmlformats.org/officeDocument/2006/relationships/notesSlide" Target="/ppt/notesSlides/notesSlide6.xml" Id="Rbedce1693f25459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25049aa6794f6f" /><Relationship Type="http://schemas.openxmlformats.org/officeDocument/2006/relationships/image" Target="/ppt/media/image5.png" Id="R122eae41444a47af" /><Relationship Type="http://schemas.openxmlformats.org/officeDocument/2006/relationships/notesSlide" Target="/ppt/notesSlides/notesSlide7.xml" Id="R798587042abc4e6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f1735561644344" /><Relationship Type="http://schemas.openxmlformats.org/officeDocument/2006/relationships/notesSlide" Target="/ppt/notesSlides/notesSlide8.xml" Id="Ra478614895184fb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3f50a8b51412c" /><Relationship Type="http://schemas.openxmlformats.org/officeDocument/2006/relationships/image" Target="/ppt/media/image6.png" Id="Rdec6a697b78346c2" /><Relationship Type="http://schemas.openxmlformats.org/officeDocument/2006/relationships/notesSlide" Target="/ppt/notesSlides/notesSlide9.xml" Id="Rb926b9ba12bd47e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6e23811c34d12" /><Relationship Type="http://schemas.openxmlformats.org/officeDocument/2006/relationships/notesSlide" Target="/ppt/notesSlides/notesSlide10.xml" Id="R39f853501b6f4f3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03da93e643d4139" /><Relationship Type="http://schemas.openxmlformats.org/officeDocument/2006/relationships/notesSlide" Target="/ppt/notesSlides/notesSlide11.xml" Id="R3f78832231ee421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e716bae3174d6a" /><Relationship Type="http://schemas.openxmlformats.org/officeDocument/2006/relationships/image" Target="/ppt/media/image7.png" Id="R366a6c628c6b4a4b" /><Relationship Type="http://schemas.openxmlformats.org/officeDocument/2006/relationships/notesSlide" Target="/ppt/notesSlides/notesSlide12.xml" Id="Rcb997c74e33f401b" /></Relationships>
</file>

<file path=ppt/slides/slide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8b51a14d974ed4"/>
          <a:srcRect xmlns:a="http://schemas.openxmlformats.org/drawingml/2006/main" l="17689" t="0" r="1768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0"/>
            <a:ext cx="6381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33342C-0E68-4FCD-A24A-5CF22794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239000" cy="6858000"/>
          </a:xfrm>
          <a:prstGeom xmlns:a="http://schemas.openxmlformats.org/drawingml/2006/main" prst="roundRect">
            <a:avLst>
              <a:gd name="adj" fmla="val 0"/>
            </a:avLst>
          </a:prstGeom>
          <a:gradFill xmlns:a="http://schemas.openxmlformats.org/drawingml/2006/main">
            <a:gsLst>
              <a:gs pos="0">
                <a:srgbClr val="07131F"/>
              </a:gs>
              <a:gs pos="72000">
                <a:srgbClr val="07131F">
                  <a:alpha val="96000"/>
                </a:srgbClr>
              </a:gs>
              <a:gs pos="100000">
                <a:srgbClr val="07131F">
                  <a:alpha val="8000"/>
                </a:srgbClr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B31A2B-4328-43B6-979D-F49A634CE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771525"/>
            <a:ext cx="5410200" cy="54102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4EE23F-29DC-4E0C-B3D5-A386044E0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1978" y="1528953"/>
            <a:ext cx="3895344" cy="3895344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8F3E2-05B8-4881-A166-01EC9D0DE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406" y="2286381"/>
            <a:ext cx="2380488" cy="2380488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B56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78F655-7B0C-479E-ABAD-7451D3BC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810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1551F96-6AF0-4954-BEB0-84C30A5E2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00150"/>
            <a:ext cx="8763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D44017-54BA-4A44-928D-99CB4F5D6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8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58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D41A0-27D9-4865-A30F-E5B81CD2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38425"/>
            <a:ext cx="438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二十四节气的物候解谜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7EA04C-0148-4242-B665-982285BA1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19450"/>
            <a:ext cx="4381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修复一座失去秩序的四季时钟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3131A0-5B3F-430F-8C1A-162CD2033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238625"/>
            <a:ext cx="447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观天  ·  识候  ·  辨误  ·  修复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16621F-2C6C-48AF-AA42-446E234D2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672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24 个节气关卡    72 候图鉴    4 个章末试炼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69D81A-0A10-4876-866E-DC3B69C86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486400"/>
            <a:ext cx="4000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14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C50BB4-6ACF-4AA4-A5D3-FA2171338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340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纯前端运行  ·  无登录  ·  无后端  ·  核心玩法可离线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4FEEAA-5A7A-46A2-A70F-7CD71B92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AI 辅助设计：代码 / 文案 / 版面初稿；学生修改、科学核验与验收</a:t>
            </a:r>
          </a:p>
        </p:txBody>
      </p:sp>
    </p:spTree>
    <p:extLst>
      <p:ext uri="{BB962C8B-B14F-4D97-AF65-F5344CB8AC3E}">
        <p14:creationId xmlns:p14="http://schemas.microsoft.com/office/powerpoint/2010/main" val="1063593182"/>
      </p:ext>
    </p:extLst>
  </p:cSld>
</p:sld>
</file>

<file path=ppt/slides/slide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2A8047-34E5-4922-8A6D-478E6A709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297EC1-2505-4D81-903C-F4E2705EF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问题定义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42778A-BD99-45BB-9E55-B74D41A3B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ACEB90-88A8-4E9F-8968-1226B709E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041B20-8E86-47DE-9C84-A482FECE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WHY THIS GAME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355AB3-A868-4FB6-97E6-CD9ABEFF7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三种混淆，让节气变成“背名称”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B9E93E-067E-4120-8B6B-2A0234459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二十四节气连接太阳运动、物候和农事生活，但公众理解常停在名称记忆。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C31943-92B7-4406-B8BB-2752A12B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19250"/>
            <a:ext cx="4191000" cy="41910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6A7E67-243A-4F6D-AEED-B782F678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1990" y="2205990"/>
            <a:ext cx="3017520" cy="301752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389CED-A0D0-4C53-822E-CF101B562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8730" y="2792730"/>
            <a:ext cx="1844040" cy="184404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7294A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96B3773-E8DF-4BE2-BF3A-2EDFA6D4D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6A8AE6-A701-4CAE-8C1B-342C3E609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天文节点 ≠ 当天天气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53EB44-8B7B-48F7-8755-9AFFAD42C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立春、夏至由太阳黄经确定；入春、最热日还要看当地气温与热量累积。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841B3F-B672-4AAB-BFDD-661B004C2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2800350"/>
            <a:ext cx="9525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A6F6E5-2EB5-4323-BBDE-2762A168B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31765C-26D8-4F84-8543-0539BBBE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古代物候 ≠ 现代定律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48FFCF-4A10-4DF0-A977-3DD3BE905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七十二候是有价值的观察体系，但不能直接等同于现代气象或生物学标准。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DF2431-3A2A-440C-87BE-3AEBDBB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800350"/>
            <a:ext cx="9525" cy="2524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385869-D95D-4116-BE4D-266B9BCD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562225"/>
            <a:ext cx="76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D96A52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D96A52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02E33-2BD3-4378-B509-2CD8DA55E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057525"/>
            <a:ext cx="314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节气名称 ≠ 定量标准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E2468D2-B61D-4E4D-A88B-EAB3DD26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714750"/>
            <a:ext cx="31051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“小雪”“大雨”等名称描述季节趋势，不是统一的降水量或天气等级。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C8BB2E-0FF5-4E1D-9217-FAF8ECA7A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9144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不是增加更多“知识点”，而是让玩家亲手校准这些边界。</a:t>
            </a:r>
          </a:p>
        </p:txBody>
      </p:sp>
    </p:spTree>
    <p:extLst>
      <p:ext uri="{BB962C8B-B14F-4D97-AF65-F5344CB8AC3E}">
        <p14:creationId xmlns:p14="http://schemas.microsoft.com/office/powerpoint/2010/main" val="183920013"/>
      </p:ext>
    </p:extLst>
  </p:cSld>
</p:sld>
</file>

<file path=ppt/slides/slide3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D3416F1-9C88-4EB4-99D7-BD0EC2F75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2FEBBE-481B-470F-9237-C3919944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核心机制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4C160F-AF8E-402F-A493-247EFD15E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03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0D3B69-511C-472A-9152-CA136076E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3DCBB9-2D8E-4529-A6F3-107DA4A96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CORE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07FD366-55F5-4D6B-AA14-89060C2B0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把知识变成一台需要校准的时轮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0C542-F986-49D8-87D4-A6F3643DF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每一关都是一次完整的仪器操作，不是阅读后点下一题。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ACAE50-50B4-4519-B5A1-29E1A83C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90297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2E495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191A65-114C-4328-B613-107AD557C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8B56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C7D10-94A7-4A70-99C3-1428A74D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观天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E94D97-77E8-4A25-84E7-C6391CB76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71FB58-AB52-4475-A9D3-891BDD69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旋转日轮，对准太阳视黄经 315°—300° 的节点刻度，再认节气印。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7B8469-AAD0-486D-B61A-0DC67A416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A96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5D5A2B-A504-456F-9732-C14D824BE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识候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44A6D3-2F6A-4938-9E90-25377EA9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45FC6A-3C3C-404A-8ADC-98C35846A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6 枚混合候牌中找出 3 枚，并按初候、二候、三候排序。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9A90BA-8A51-4F61-9FE4-827957F4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96A5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E1084B-A726-4336-8926-E410011D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D96A52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D96A52"/>
                </a:solidFill>
                <a:latin typeface="STSong"/>
                <a:ea typeface="STSong"/>
                <a:cs typeface="STSong"/>
              </a:rPr>
              <a:t>辨误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D3BBE-94C4-4A0D-9F8A-43C91E9F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C9A163-F696-4A10-A682-DD6D3B64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4 条材料中选出 2 条证据，让科学证据天平回到平衡。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65E264A-5895-4518-B3F5-32A27040C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05125"/>
            <a:ext cx="914400" cy="91440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94A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D0222-EE1E-411F-BAB3-9D906A8DB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3133725"/>
            <a:ext cx="7239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修复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44B355-914F-4D57-A4C0-0520F488A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10025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PHASE 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CA9F96-C319-4FE1-8253-978D560F5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38650"/>
            <a:ext cx="14478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排列太阳位置到物候表现的 4 段因果链，启动节气时轮。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6673D30-8260-4C32-A079-3735BB79C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34050"/>
            <a:ext cx="1082040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7434D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0552DDD-B44A-4E4C-BF86-059651633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8674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0">
                <a:solidFill>
                  <a:srgbClr val="EFDAA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FDAA5"/>
                </a:solidFill>
                <a:latin typeface="Microsoft YaHei"/>
                <a:ea typeface="Microsoft YaHei"/>
                <a:cs typeface="Microsoft YaHei"/>
              </a:rPr>
              <a:t>目标   ·   线索   ·   操作   ·   即时反馈   ·   成功条件   ·   评分</a:t>
            </a:r>
          </a:p>
        </p:txBody>
      </p:sp>
    </p:spTree>
    <p:extLst>
      <p:ext uri="{BB962C8B-B14F-4D97-AF65-F5344CB8AC3E}">
        <p14:creationId xmlns:p14="http://schemas.microsoft.com/office/powerpoint/2010/main" val="1884842634"/>
      </p:ext>
    </p:extLst>
  </p:cSld>
</p:sld>
</file>

<file path=ppt/slides/slide4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B9C6FE-83CE-4C5D-ADCF-5638705E1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16ACF8-928D-4A34-B868-57D389357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96BAE5-7CC0-4D1D-95D5-396BD3D6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04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E95A22-DC63-4C2C-94BA-DADB5EF68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C4B3A4-CC97-4BC4-BBF2-7DD79AFA1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OBSERVE THE SUN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C63DBB-FD8F-4979-9514-F3D961E99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太阳黄经不是背景，而是第一道操作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fd31d0b606488e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4745B92-2216-46F3-91C5-B04C45D84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152650"/>
            <a:ext cx="2476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观测记录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07B58E-76B1-442B-8DF2-4B138755B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47650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视黄经 315°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01F542-028D-4A84-942E-ECB6F0CD2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105150"/>
            <a:ext cx="3143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直射点约南纬 11°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北半球昼渐长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B99446-0AFD-4A7A-BD4D-945EAEA8F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038600"/>
            <a:ext cx="31432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61696F-EE4E-41A3-8FA1-56533842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352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±4°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D2D6C4D-DFB9-4AA3-B4F2-F4F97F69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905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指针容差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B09BBA-8D71-48D7-A257-E46AFD83C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352925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4 选 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DB0784-71EC-41CC-95B2-D83EAD2D5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905375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节气印识别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A7D83E-02D1-4F8D-873B-22FBD8DC3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448300"/>
            <a:ext cx="3238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拖动 / 触屏滑杆 / 键盘方向键均可操作。锁定黄经后再辨认节气，让“天文位置—季节名称”形成一次可验证的动作。</a:t>
            </a:r>
          </a:p>
        </p:txBody>
      </p:sp>
    </p:spTree>
    <p:extLst>
      <p:ext uri="{BB962C8B-B14F-4D97-AF65-F5344CB8AC3E}">
        <p14:creationId xmlns:p14="http://schemas.microsoft.com/office/powerpoint/2010/main" val="1376289104"/>
      </p:ext>
    </p:extLst>
  </p:cSld>
</p:sld>
</file>

<file path=ppt/slides/slide5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C86DB57B-1622-4D9D-B427-48064C088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69F92-694E-4926-90B8-7DC01E327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C894A4-620D-41E5-913C-1034EFEB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05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2BB5DE-41B9-44EA-8F9D-CBA743E38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8FFC7-3358-4158-BF8A-18A61E5A3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READ THE PHENOLOGY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123B95C-D4E2-4FB5-85AA-716B50672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七十二候，从阅读列表变成可收集的候牌</a:t>
            </a:r>
          </a:p>
        </p:txBody>
      </p:sp>
      <p:pic>
        <p:nvPicPr>
          <p:cNvPr id="9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8edbc2d9204f00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002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CC33FB-FFFF-4CD3-880A-91719B016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20980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7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3 / 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D3924-5036-4CCF-8484-B61627A25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80035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从混合候牌中选出本节气的三候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89C211-E708-4C2E-BD7B-139945F74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648075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21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初 → 二 → 三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0ED44E-558C-4824-B61B-C6C337831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038600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再按传统候序放入观察槽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6703EF-B4BF-43F6-B719-20F4ECE5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48006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7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7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51F97-9072-4739-8666-A6E8051B0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5372100"/>
            <a:ext cx="333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候牌收入档案，形成完整物候图鉴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CCADE6-20AF-41A0-BF1F-16BF434E9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2C767A-C4A1-4280-8540-2D4C24744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3189B3-7C17-47AA-9311-CB442F500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2D4AC4-749B-4416-9947-2714A1A7E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9DEDC7E-AF19-43D6-96BD-AF2938E27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4223F2-652B-4246-8652-0350B447E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85BD43B-5190-445E-A5D0-4666AE4F4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C9DAFC-1D4B-4551-B71C-1B646DB48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2DC284-DAB8-449A-88FA-9367A5C61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F93EB0-41D5-481C-93EC-4479A70E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A176E1-6BFD-484A-96CE-38E65F1B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A05D2A-D915-4A3C-9B79-540A066B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0483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16D325-920A-4296-AD90-923EB61C2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A0C39F-B6EC-4332-943E-64429B7A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1498A3-787D-45B9-99FC-0A1944A65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AC5758-EAE2-46E9-A365-A18A49197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15AA65-4B26-42D6-9830-4DE0ED0D3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A4D189B-CF62-488C-B4A3-0392C117B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4A3447-BB83-4A10-B1A2-31A56116A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BEEF4BA-1B4D-436A-8D38-7908E62D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A2531A1-8DA5-4F7C-86AF-4DF8ADF5E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4653983-AC56-4C40-8299-2757DD2BA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51A64A3-32FF-4E99-BCC8-F3E83DB67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918C8BF-FAE7-4EE6-9C56-01E6124C0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1341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54B26F2-9E92-41B8-819C-9A511B94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53133A9-D337-4C97-8A4A-F62AB4AD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798403-3811-4C87-8F31-F66AA9CF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A9CBD7D-D35E-41D1-BE30-4C7A6B55F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0BD586-FE6D-4653-89A0-5F86AFE5C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B015DDB-0288-4152-B278-85848C7DD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CC064F-FF92-4B5E-95A5-E1E0A108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ECDEC0B-6A15-4DD3-BAA3-E21EAD91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F3DE6C1-A8E7-4D1E-B667-F12CC375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FA3C06-B39B-4913-ADED-5B2DE05EC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5166F7D-9BC1-4613-BAA6-54A598613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504B44A-F4DA-4EB3-A02B-B1C3525EC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21982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016B27B-6887-44ED-890C-C5C93C50E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95465A-E20F-4B41-86CD-FD4E7B96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FF253A1-343B-4F4D-8F52-95D308D7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6040F6-50AE-49FE-B2CA-17CF563D0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F569371-2BCE-4387-81D5-49503BF0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AAB2968-9336-4460-B350-5A27D2E6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6D1E45-3DD4-49C5-B250-4E772663A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4619C2E5-D9E2-4D75-B6FF-6B832761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4A25E0DF-4185-4A1C-A09B-78843E506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7AB02D1-3ACF-4885-B37D-C1BEAD288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BF9F39E-9BDF-4A4E-9130-81327782C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C44DC83-DD6A-48F0-8EA1-E1EABC0A8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0555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C477A05-5AFC-4759-BA0A-30A97672F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CC3C686-ABB0-4B7C-9E05-43F210421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8368FDF-7450-43BB-AF94-6935EB0D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01A9829-C940-4709-BA93-654CF06A7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CD3D5961-FE28-4C16-9A03-EC00F5C9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ABA68B30-32DE-4A27-AF2C-1367F54E4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D37C8B-CEA5-457D-A266-94D7D7812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53EFCF0-748F-4997-85B8-9AD12AC94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D9996B4-4A12-4F0E-9905-118131509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4873051-0F67-4CB7-AA76-DF2DF3D29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F38107A5-BDC4-4390-82AD-AFAB45018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E8E55775-A459-47A2-9579-3CBC15A5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391275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1907E07-FC2F-4A0F-8B95-C7F9059E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5864551-4195-44A0-B761-94BA02FB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2953E91-330D-4EA9-9C64-4CDE55C4F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21EC408-A6C8-440A-9474-B15A73C7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DBB9D318-B16C-4923-A67C-D43D9FED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96051CD6-67DE-4D24-ACF8-6429901F7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232C6D9-DB82-40F0-BABF-2E950343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B1E90B8-C373-4A1B-B97E-4FA067AFF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B360CE9-7CC5-4CF5-87F8-EAC691F2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C186C454-E963-4D93-BED9-653D75AE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21D72786-B5A6-4534-AFBD-2599B26EF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AC350772-48B3-4ECC-AC2A-0615E3E6D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44150" y="6477000"/>
            <a:ext cx="38100" cy="38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17690698"/>
      </p:ext>
    </p:extLst>
  </p:cSld>
</p:sld>
</file>

<file path=ppt/slides/slide6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5B8EA8-95E3-451F-8117-45E62BD65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78F4506-266F-4FBE-B47F-C4CA2879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C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34AB0A7-19F2-4C76-B387-BFA2C532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06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AE27C-5665-4124-86AB-83265B7F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117F3A-627A-42A4-B87E-B72F01B02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WEIGH THE EVIDENCE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11888B-E376-4554-A401-69743E27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证据天平，把“传统”与“现代解释”分开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f4c3ac530154b91"/>
          <a:srcRect xmlns:a="http://schemas.openxmlformats.org/drawingml/2006/main" l="0" t="14" r="0" b="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53150" y="1809750"/>
            <a:ext cx="5295900" cy="3676650"/>
          </a:xfrm>
          <a:prstGeom xmlns:a="http://schemas.openxmlformats.org/drawingml/2006/main" prst="roundRect">
            <a:avLst>
              <a:gd name="adj" fmla="val 2591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4373A8-BD39-4ADD-9D35-BC70ABEAE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待辨析命题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92BB37-FBFD-43CA-83B2-CE823F4BA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66975"/>
            <a:ext cx="476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80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“立春一到，全国就同时进入气象学意义上的春天。”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78BEBD-8A83-420F-B5A3-4E1B7ECB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证据 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5CC96E-C8E4-4FFA-941F-F18C59376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3800475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节气按太阳视黄经划分，不直接决定各地实时气温。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E68CE6-722D-4138-9BB2-BECA94FD2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证据 B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C55806-EFFF-483B-8ECF-2EBFE03E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495800"/>
            <a:ext cx="3810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中国南北跨度大，同一节气内的气温和物候差异显著。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993427-41E4-4F74-93A4-2BE4BEF7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19750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错误选择会进入“证据回廊”，答对后标记为“已校正”。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6673D2-B8CA-4743-B31A-927AA4973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43600"/>
            <a:ext cx="4953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620257251"/>
      </p:ext>
    </p:extLst>
  </p:cSld>
</p:sld>
</file>

<file path=ppt/slides/slide7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9E889A-6F60-4141-829A-DA73FC2C6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F43417-14C6-409B-8661-A3CDC6C7D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机制拆解 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604B21-0DBA-44DE-A3D5-0E072459E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07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06ED8-2392-4D9D-A696-67D7542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5D53E0-EDFB-43E4-B647-1EAC3385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REPAIR THE CLOCK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B37D85-3174-4C8B-A418-F0EEA7E7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四段因果链，才是本关的最后机关</a:t>
            </a:r>
          </a:p>
        </p:txBody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2eae41444a47af"/>
          <a:srcRect xmlns:a="http://schemas.openxmlformats.org/drawingml/2006/main" l="0" t="17" r="0" b="1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962150"/>
            <a:ext cx="6572250" cy="4562475"/>
          </a:xfrm>
          <a:prstGeom xmlns:a="http://schemas.openxmlformats.org/drawingml/2006/main" prst="roundRect">
            <a:avLst>
              <a:gd name="adj" fmla="val 2088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202168-8DED-46B3-B2DA-D44A75A48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05740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FFCA3-56A3-488A-963F-59ADC67B9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217170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878322-9286-4622-906D-90718BC2D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07645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太阳视黄经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F76AA5-1B1A-4066-9DBF-3F0D8C3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812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到达本节气对应刻度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8B961C-8344-4348-BCEE-7A5735B8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90800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E985F4-7C0C-422A-AF2B-935D99D0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05752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368665-DA04-4F98-87BD-EFD8D3C03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17182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464257-8419-4842-9B36-8BDCCA631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直射与昼夜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43110C-4CAF-4037-A4FD-F1A6DBE49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8137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太阳高度、昼长发生变化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47425A0-74A9-4610-91AD-8782AB2B3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590925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809396-2FC5-410C-ABC5-002E6E2D7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057650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F75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0B413-1D15-4974-9AA1-39B6883D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4171950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37352B-DC29-44F3-8A34-534514BDB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76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地表与大气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E52FE8-23D0-4DD7-8498-6D0DF83DF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381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热量、水汽与环流响应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036708A-C841-4806-A8A6-9F24DB8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591050"/>
            <a:ext cx="9525" cy="466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65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3E99A9E-18F7-4425-8A7B-13525DABA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057775"/>
            <a:ext cx="514350" cy="5143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83A96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A196CDD-DDE6-4A88-85CB-23B4AF59E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5172075"/>
            <a:ext cx="381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35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ED2E2CB-6B17-43D3-AC39-8A0F159B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07682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物候表现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D90EE9-CE3B-4A95-984E-995FEB754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5381625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萌发、鸣叫、迁徙或凝结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86F4F8D-51EE-4ED8-BC56-0F5FB1E4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87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1000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40FBD4-2949-461F-8B81-3C511F9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6181725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满分</a:t>
            </a:r>
          </a:p>
        </p:txBody>
      </p:sp>
    </p:spTree>
    <p:extLst>
      <p:ext uri="{BB962C8B-B14F-4D97-AF65-F5344CB8AC3E}">
        <p14:creationId xmlns:p14="http://schemas.microsoft.com/office/powerpoint/2010/main" val="760270108"/>
      </p:ext>
    </p:extLst>
  </p:cSld>
</p:sld>
</file>

<file path=ppt/slides/slide8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0A6F14-7F3B-4CFE-8D07-A770F11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582703-5EBE-4A84-A2B5-116800675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关卡结构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DE2B20-B9D6-4098-AF03-A05E69E79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08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DC2858-1A9B-4865-98E5-C5A4FEAA4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4B27F4-6559-4FB7-A087-E9C2E1688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24 TERM NODES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EDFE911-09E1-4EEC-98BA-E5818F69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24 个节点构成可逐章解锁的四季星图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6252FE-7821-4F35-A8C9-3AB0261C8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每个季节 6 个节气关，再追加 1 个章末综合试炼。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018428-CB44-4201-AD9C-8202961F1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5EDFD5-5A09-437F-B045-5497DFF5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春章 · 启蛰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407E708-DA4B-435D-9D48-DBA61C902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83A96F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229E59-295A-4126-81F1-130D8A4D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0C4573-8096-46D4-A224-2D96B7811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38B035-1F19-4761-835F-BC8D7FE23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6872D3-5DFC-4DE5-B54F-59D01B53B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雨水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CD6CE86-95F0-4E22-8EE7-62989A02E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E54548-92C0-4F44-9E34-32C4F3C70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惊蛰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534E3E-550C-429C-B0DA-007E2BE6F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DF4E6D-DFF0-49FB-8830-72BF6CB7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春分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7AC7FB-E406-469F-BB30-DBAB0BE9B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CE2CCA-A2E7-4019-807B-A72FCE5F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清明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535FB7-27AF-4CA7-9799-92E6F09A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3A96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2025296-619E-4C40-A437-65557C940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谷雨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766B3C-5A25-42FC-8172-20AB82C72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2D980F-9B98-4886-AE01-522394AF4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71F4D7-41DE-435D-93C7-D0FA16DF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96868C-26F9-46EF-951B-A6889434E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夏章 · 长明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3DA6C51-62BB-413F-BA5E-259A5D74C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D06A46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B0265C-01C0-4DA5-959D-6EFA3DFA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5D97877-B685-46C8-AD61-9B21B75D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5788D1-4775-4692-A9AD-3E9B002F5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7C1268-E755-467D-BAB3-77998ACC2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小满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929A75-29A1-4459-B905-04475D28B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53B01EF-4EC4-4536-8E5D-461C6DB09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芒种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263486E-BCB4-4907-9FEB-1D9CCB90C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339589A-B634-4371-AFD3-086F0500E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夏至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7E65EA-C0EC-4D34-AFAC-137D66D4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51034B9-1632-41AB-B2C8-4DFEA4CDC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小暑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B57F50-5BEF-4C39-9857-70446D46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06A4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6E96CD6-32BE-4F90-8DA6-99316D51C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大暑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9CFDAAF-40C9-40C0-8764-E7533DD99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E49C716-6A34-43DF-B0A6-667DFFDFB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D15B62-9C30-4DF2-BEA9-181EF2B9C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C09A50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C09A50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7C08C7-446D-4668-B206-B71ACF9A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C09A50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C09A50"/>
                </a:solidFill>
                <a:latin typeface="STSong"/>
                <a:ea typeface="STSong"/>
                <a:cs typeface="STSong"/>
              </a:rPr>
              <a:t>秋章 · 敛藏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4D7348-08F0-46F5-AAAC-44004B29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09A50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453AFD7-2159-4F9E-BB62-C80BB3DA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8338D4E-5716-4543-A84C-1DBC3B5BD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579DE5-6501-4C95-A2B2-575F9FAF6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52865FB-B9F4-4E26-92F8-491330573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处暑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66E5BC5-DA0B-4D34-BBCB-F6919F81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3E72C4B-097E-4EE0-B78F-2CCC82D17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白露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D0F46E1-ACC5-4C06-AE85-7BD0157FF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2C07B61-64C1-4EBE-A9A5-8D27D997A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秋分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5D75C634-8520-46CA-A8FA-9564F0C8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A35C22F-E17F-4658-A8F1-D20A43F87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寒露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3660831-0378-45B1-8F60-6655A67CF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09A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B45C8FB-6563-4268-849A-33BB8A49E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霜降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5EE52E4-3C39-45B0-B318-23D2B344D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D9458E06-443D-486F-BB32-0D0947B2F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2E73951-C1F8-4432-948C-0BD0B868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622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42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04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84C0B90-9BC4-4607-856D-C03E329D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714625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冬章 · 归根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9B90A5D-579D-4EFB-9185-A62E01628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181350"/>
            <a:ext cx="2286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294A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97CB368-9BE4-4A2C-AF37-17B906383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766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C6D0C994-7E8F-425F-9C81-65BA23E75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4290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立冬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BCF404D1-5A92-4816-ACC8-C98D72480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862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77CE88A-0A90-42D3-B2C4-D7E22F507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8385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小雪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E013E61-6EDA-4FDC-8AEB-B4DADD020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29577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2B2C366-1AC1-4CFB-A01D-BBCC09EC2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2481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大雪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9F3D22C-70F9-44FA-BF16-B6ED6C7DD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05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EE906277-AF27-467A-90BC-8661F150A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65772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冬至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AB425BA-4252-45A2-87C0-580A1A3E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1149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204C34A5-5899-45DB-B454-97A7FB068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067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小寒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704E825-2F55-4BB0-9EE5-C6A4094E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5245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294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DE8D39E-F1CF-44D2-A1CA-671E3B7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5476875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大寒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68DED0-F0F1-475B-B74D-86E3F01EE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962650"/>
            <a:ext cx="22669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298400-4208-4E9F-B198-DBEBCC8BF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6057900"/>
            <a:ext cx="1962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章末试炼 · 6 + 1</a:t>
            </a:r>
          </a:p>
        </p:txBody>
      </p:sp>
    </p:spTree>
    <p:extLst>
      <p:ext uri="{BB962C8B-B14F-4D97-AF65-F5344CB8AC3E}">
        <p14:creationId xmlns:p14="http://schemas.microsoft.com/office/powerpoint/2010/main" val="1662537940"/>
      </p:ext>
    </p:extLst>
  </p:cSld>
</p:sld>
</file>

<file path=ppt/slides/slide9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32EE1E-B645-439B-BFF6-47A638E0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5EC7A9-F8B8-4612-BFE3-F5431E559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综合挑战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B31C8C-72C5-4F9F-916B-4AA95210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09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2B00DE-2889-4890-B2F0-8A0F3557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44D364-0C1F-46F6-83D0-403BAE952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CHAPTER 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3F436-ED98-462C-8BDA-F2D32FE07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章末试炼检验的不是记忆，而是整章关系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F0E7B3-647A-4CC7-8C03-2A4C119C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933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从星序、候证到科学审校，将本章知识重新组合。</a:t>
            </a:r>
          </a:p>
        </p:txBody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c6a697b78346c2"/>
          <a:srcRect xmlns:a="http://schemas.openxmlformats.org/drawingml/2006/main" l="0" t="41" r="0" b="4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28825"/>
            <a:ext cx="6534150" cy="4533900"/>
          </a:xfrm>
          <a:prstGeom xmlns:a="http://schemas.openxmlformats.org/drawingml/2006/main" prst="roundRect">
            <a:avLst>
              <a:gd name="adj" fmla="val 2101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11B82B-FE24-4A34-B702-973629CD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2479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8A2CD-0F61-4392-AF94-2AC608591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383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星序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D7F66F-C28F-4AAE-91A1-AC12B8D3F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03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按太阳视黄经顺序重连本章 6 个节气。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F460318-C754-4527-A937-6792290CA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2385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D1B9F2-D4C8-4424-BF62-B2EE4D66C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5052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7B654AB-44E3-41EC-9715-2FA783D3A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4956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候证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B49E16-D23D-44CF-A10F-CA96808C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8576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为 3 个节点找到正确候牌，跨节点辨认物候。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4ECE20-8D50-4AD4-BF7A-156D0A30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958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61B25F-3FE4-479E-9820-1B521155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762500"/>
            <a:ext cx="5143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500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68342C-BD11-4791-AA52-7DFF0EA5E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752975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万象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C2CD2B-DBDA-4C17-B353-B1C58DE8A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5114925"/>
            <a:ext cx="28003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从 5 条陈述中选出 3 条可靠结论。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74D0E72-64BD-488C-BC58-2678DD841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5753100"/>
            <a:ext cx="34290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2436D4-D5D4-4EA6-B2EA-FD04177F3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096000"/>
            <a:ext cx="3238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4 个章末印记，独立记录最佳分与星级。</a:t>
            </a:r>
          </a:p>
        </p:txBody>
      </p:sp>
    </p:spTree>
    <p:extLst>
      <p:ext uri="{BB962C8B-B14F-4D97-AF65-F5344CB8AC3E}">
        <p14:creationId xmlns:p14="http://schemas.microsoft.com/office/powerpoint/2010/main" val="1993660784"/>
      </p:ext>
    </p:extLst>
  </p:cSld>
</p:sld>
</file>

<file path=ppt/slides/slide10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780E0A-2E7B-4917-ACA2-51B0EA11F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96C5D2-C44F-48A5-B168-6254A08C0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游戏反馈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6B7100-ED33-4F5C-B334-DB1E869B2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10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03976D9-2D10-484D-9E03-FCBAA475D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B0FF8-568A-41DE-BEE7-33CBEC932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SYSTEM LOOP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F0A0B2-C90E-4608-8495-99E006612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反馈、存档与适配构成完整游戏闭环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B34583-2CBB-4AA8-A07D-A737403D1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62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24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546CBE-75D9-4DFE-8C61-4398E7ADC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节气节点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85D3BE-471B-45F6-A68F-6371AE70B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362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F6E9E-685F-4B69-9B82-3887AE626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物候候牌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2DFB6B-964A-49F2-9404-1794B1990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622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947F6F-91DB-4783-9AEE-7EF43F555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146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章末印记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04F235F-539A-4514-A77D-5A1A339A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65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连击 · 精度 · 时轮分 · 星级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C8C536A-CEEE-41DF-A051-A2FD0E3CA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52875"/>
            <a:ext cx="476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最佳成绩、图鉴、错题与未完成检查点写入 localStorage；刷新后从上一完成阶段继续。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BCAF6C-5E7A-4609-8436-44A6DCB69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095875"/>
            <a:ext cx="47625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9E0136-3919-44EE-BB47-DCDAD2513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3721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可玩  ·  可辨  ·  可续玩  ·  可带走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A827C6-62F8-43D1-B6F0-18DE32721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95262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D8D910-62DF-4CD1-A393-CA1177398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8B56B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D8B56B"/>
                </a:solidFill>
                <a:latin typeface="STSong"/>
                <a:ea typeface="STSong"/>
                <a:cs typeface="STSong"/>
              </a:rPr>
              <a:t>即时反馈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18A501-9FF1-40D7-BE7F-29CD6CD5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6193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精度、连击、时轮分与 1—3 星评分。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790F4D-EB2E-40AF-8840-E9B4093B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195262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626843-4599-40C1-BDB2-1269128F7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43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83A96F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83A96F"/>
                </a:solidFill>
                <a:latin typeface="STSong"/>
                <a:ea typeface="STSong"/>
                <a:cs typeface="STSong"/>
              </a:rPr>
              <a:t>可续玩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E43283-A463-4B05-A2B7-7425B35B8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1937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关卡检查点与错题复盘保存在浏览器本机。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2D3F868-1B98-4A19-8734-FF044A79A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06717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72AF92-3B15-4217-91EB-62237945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257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D06A46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D06A46"/>
                </a:solidFill>
                <a:latin typeface="STSong"/>
                <a:ea typeface="STSong"/>
                <a:cs typeface="STSong"/>
              </a:rPr>
              <a:t>可访问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A83F26-838F-4A86-BE7A-08B69D421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73392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390px 无横向溢出，主要按钮不小于 44px。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EF0B82D-173D-4FF0-8222-F62F9FCAC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4067175"/>
            <a:ext cx="251460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0C202D"/>
          </a:solidFill>
          <a:ln xmlns:a="http://schemas.openxmlformats.org/drawingml/2006/main" w="9525">
            <a:solidFill>
              <a:srgbClr val="29434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B0EE72-1C62-4C96-8C93-4E65273D9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576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7294A7"/>
                </a:solidFill>
                <a:latin typeface="STSong"/>
                <a:ea typeface="STSong"/>
                <a:cs typeface="STSong"/>
              </a:defRPr>
            </a:pPr>
            <a:r>
              <a:rPr sz="1575" b="0">
                <a:solidFill>
                  <a:srgbClr val="7294A7"/>
                </a:solidFill>
                <a:latin typeface="STSong"/>
                <a:ea typeface="STSong"/>
                <a:cs typeface="STSong"/>
              </a:rPr>
              <a:t>可离线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6B8B9E9-0C25-4C51-8C5D-EF9BA372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733925"/>
            <a:ext cx="2114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单文件 HTML 内联全部资源，无网络请求。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103A2C7-51AE-4CEF-9C2D-BE9E9DA2A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67450"/>
            <a:ext cx="514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真实运行验收：24 关 + 4 试炼 + 72 候全流程通过，控制台错误 0。</a:t>
            </a:r>
          </a:p>
        </p:txBody>
      </p:sp>
    </p:spTree>
    <p:extLst>
      <p:ext uri="{BB962C8B-B14F-4D97-AF65-F5344CB8AC3E}">
        <p14:creationId xmlns:p14="http://schemas.microsoft.com/office/powerpoint/2010/main" val="1612638954"/>
      </p:ext>
    </p:extLst>
  </p:cSld>
</p:sld>
</file>

<file path=ppt/slides/slide11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8F2E4A0-8196-42A0-885F-94ED96AD8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D4A4F6-E9EB-4DBC-A01B-58C3A1712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原创与实现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C7C3376-6EE6-46D3-A8CD-639E13930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11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8C6561-F06E-466C-ACB8-60A10EC2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9CDD83-B7DF-40ED-954E-F718C037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723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WHY IT IS DIFFERENT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D2363F-7BA7-498C-9649-931986B22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133475"/>
            <a:ext cx="10287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925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机制差异：从节器物象转向可触摸的时间机制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B90200-8A71-4B04-BD71-003B463EA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B8B6AA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B8B6AA"/>
                </a:solidFill>
                <a:latin typeface="STSong"/>
                <a:ea typeface="STSong"/>
                <a:cs typeface="STSong"/>
              </a:rPr>
              <a:t>物象展示型页面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2B085D-41C7-4B9F-9707-E77C89B56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476500"/>
            <a:ext cx="4095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172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节气行旅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9E29A4-0C4F-4B96-A8FF-08CC7A2BE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主结构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EA94D8-DBEF-4EEF-9941-FB6FC3DE8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0575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长页 / 卡片 / 查询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4FECAA-26BD-4CEF-BC09-0E9E10C1D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575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四季星图与节点解锁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F4FAB-95FC-4DD8-A292-AEB167B80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1947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B11C85-B665-47B4-AE7B-0C8E86AAB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41947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5055DB-AF53-4FAB-A5BD-5F9BC8FB5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核心动作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5822BC-CD7B-4C9C-8769-34903E394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657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阅读、测验、浏览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A286487-8C46-4BD8-ADC1-836106522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6576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校准、筛选、排序、修复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36C5609-E99B-4B58-9ED3-32170E8B2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F64816-0989-434F-BD4F-A834FB3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019550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EAF6A-A3C0-461D-AA99-23C27839C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672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反馈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3A0C21C-DFD0-4B45-98ED-1A961F14B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25767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对错与积分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42435F-6AE0-4DC3-B280-D654E97C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25767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精度、连击、星级、章节印记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E1B9D2-8762-4111-BC0F-C51BEDF37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1962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3BCB9A-72FA-43BA-A505-F9C298FA9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1962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FC0B68-76EB-4E1F-BCD3-1E1AD9FD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收藏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AF37B1-4AB2-469F-BA2A-41F888F06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85775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静态候表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4911D03-A44D-4000-B1DF-2216E25E5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8577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关卡内候牌收集与 72 候图鉴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BC267AD-4306-4E2D-B866-F056C66E9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941CD9F-AD70-408F-856A-9DFFEC18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219700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1C63EB-53D7-4725-B3F7-974F584F1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结局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31573-D2E2-491C-BE87-DDF9E56C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457825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阅读记录页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8CBCF7-51DA-435C-B334-30FE688F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57825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Canvas 时间行旅 PNG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2137BAD-B4D4-4917-9B08-C74E9B574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50101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738CAC-EC7E-41B6-AFAE-AD217C84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819775"/>
            <a:ext cx="4876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A424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BE3876D-DBB9-4584-8902-8B4A14C3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674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技术：HTML5 + CSS3 + 原生 JavaScript + SVG + Canvas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87237FD-B821-4FBB-BD37-DDC3BB94E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6267450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无第三方运行时库 · 无外部 AI API · 无后端</a:t>
            </a:r>
          </a:p>
        </p:txBody>
      </p:sp>
    </p:spTree>
    <p:extLst>
      <p:ext uri="{BB962C8B-B14F-4D97-AF65-F5344CB8AC3E}">
        <p14:creationId xmlns:p14="http://schemas.microsoft.com/office/powerpoint/2010/main" val="596047466"/>
      </p:ext>
    </p:extLst>
  </p:cSld>
</p:sld>
</file>

<file path=ppt/slides/slide12.xml><?xml version="1.0" encoding="utf-8"?>
<p:sld xmlns:p="http://schemas.openxmlformats.org/presentationml/2006/main">
  <p:cSld>
    <p:bg>
      <p:bgPr>
        <a:gradFill xmlns:a="http://schemas.openxmlformats.org/drawingml/2006/main">
          <a:gsLst>
            <a:gs pos="0">
              <a:srgbClr val="07131F"/>
            </a:gs>
            <a:gs pos="58000">
              <a:srgbClr val="091925"/>
            </a:gs>
            <a:gs pos="100000">
              <a:srgbClr val="061019"/>
            </a:gs>
          </a:gsLst>
          <a:lin ang="8100000"/>
        </a:gra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F1DB00-C8A6-4B9B-B595-181BCF137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节气行旅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1C2F5E-9DED-4243-9DD4-162669C34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7175"/>
            <a:ext cx="571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8F7543"/>
                </a:solidFill>
                <a:latin typeface="Microsoft YaHei"/>
                <a:ea typeface="Microsoft YaHei"/>
                <a:cs typeface="Microsoft YaHei"/>
              </a:rPr>
              <a:t>成果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05ACC2-5510-4DEE-931E-9EAACEF64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57175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12 / 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1052CC-C19C-4A7F-B243-485D9D432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0550"/>
            <a:ext cx="108204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D4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E1947-2B0C-4C91-9647-E2F4B1C8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667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D8B56B"/>
                </a:solidFill>
                <a:latin typeface="Microsoft YaHei"/>
                <a:ea typeface="Microsoft YaHei"/>
                <a:cs typeface="Microsoft YaHei"/>
              </a:rPr>
              <a:t>米兰设计周 · 触摸时间 · 魅力节气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3AF38-3314-4802-93B3-270126A34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4775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550" b="0">
                <a:solidFill>
                  <a:srgbClr val="ECE4D2"/>
                </a:solidFill>
                <a:latin typeface="STSong"/>
                <a:ea typeface="STSong"/>
                <a:cs typeface="STSong"/>
              </a:defRPr>
            </a:pPr>
            <a:r>
              <a:rPr sz="2550" b="0">
                <a:solidFill>
                  <a:srgbClr val="ECE4D2"/>
                </a:solidFill>
                <a:latin typeface="STSong"/>
                <a:ea typeface="STSong"/>
                <a:cs typeface="STSong"/>
              </a:rPr>
              <a:t>触摸时间，让节气重新行走。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6E2EFE-2B3D-4411-A726-28E13B72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4953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B8B6AA"/>
                </a:solidFill>
                <a:latin typeface="Microsoft YaHei"/>
                <a:ea typeface="Microsoft YaHei"/>
                <a:cs typeface="Microsoft YaHei"/>
              </a:rPr>
              <a:t>通关后生成不含身份信息的“时间行旅”成果卡。</a:t>
            </a:r>
          </a:p>
        </p:txBody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6a6c628c6b4a4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72200" y="1609990"/>
            <a:ext cx="5238750" cy="3638021"/>
          </a:xfrm>
          <a:prstGeom xmlns:a="http://schemas.openxmlformats.org/drawingml/2006/main" prst="roundRect">
            <a:avLst>
              <a:gd name="adj" fmla="val 2264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F112E0-4461-473E-B145-1A62B0873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24 / 24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DA35FFA-FA6A-4151-9424-EDC32DD69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节气节点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3602A9-9125-4110-B1F3-E88CF7135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72 / 72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0B2193-5B4D-4ADF-9327-7FD5F8E0B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物候收录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4D445C-3D0C-42F1-AFA1-B29F62853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048000"/>
            <a:ext cx="18097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3600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4 / 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A0FC32-6F36-47EF-90AA-758E58C7A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60045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章末试炼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F459998-EEAD-4E5F-8D52-582AFFFBB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629150"/>
            <a:ext cx="4857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0">
                <a:solidFill>
                  <a:srgbClr val="EFDAA5"/>
                </a:solidFill>
                <a:latin typeface="STSong"/>
                <a:ea typeface="STSong"/>
                <a:cs typeface="STSong"/>
              </a:defRPr>
            </a:pPr>
            <a:r>
              <a:rPr sz="2175" b="0">
                <a:solidFill>
                  <a:srgbClr val="EFDAA5"/>
                </a:solidFill>
                <a:latin typeface="STSong"/>
                <a:ea typeface="STSong"/>
                <a:cs typeface="STSong"/>
              </a:rPr>
              <a:t>四季时钟已复原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2C1D1B-A2B0-40D1-B7F3-6F8019D9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21970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ECE4D2"/>
                </a:solidFill>
                <a:latin typeface="Microsoft YaHei"/>
                <a:ea typeface="Microsoft YaHei"/>
                <a:cs typeface="Microsoft YaHei"/>
              </a:rPr>
              <a:t>可玩  ·  可辨  ·  可带走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8D4364-E5E2-4A35-B83C-31A65A3E2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734050"/>
            <a:ext cx="44005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8F75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D73635-E5E0-4E12-9EA3-52E23486F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9055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7D8B8C"/>
                </a:solidFill>
                <a:latin typeface="Microsoft YaHei"/>
                <a:ea typeface="Microsoft YaHei"/>
                <a:cs typeface="Microsoft YaHei"/>
              </a:rPr>
              <a:t>正式历算以紫金山天文台等权威历书为准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E50DF36-BB44-4494-8A36-ABAB9D5B7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61912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0">
                <a:solidFill>
                  <a:srgbClr val="D96A52"/>
                </a:solidFill>
                <a:latin typeface="Microsoft YaHei"/>
                <a:ea typeface="Microsoft YaHei"/>
                <a:cs typeface="Microsoft YaHei"/>
              </a:rPr>
              <a:t>AI 辅助设计：代码 / 文案 / 版面初稿；学生修改与验收。</a:t>
            </a:r>
          </a:p>
        </p:txBody>
      </p:sp>
    </p:spTree>
    <p:extLst>
      <p:ext uri="{BB962C8B-B14F-4D97-AF65-F5344CB8AC3E}">
        <p14:creationId xmlns:p14="http://schemas.microsoft.com/office/powerpoint/2010/main" val="5883222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2026-10-25T14:17:42.6840000Z</dcterms:created>
  <dcterms:modified xsi:type="dcterms:W3CDTF">2026-10-25T14:17:42.6840000Z</dcterms:modified>
</coreProperties>
</file>