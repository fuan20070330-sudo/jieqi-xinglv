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46c46e7354e2c" /><Relationship Type="http://schemas.openxmlformats.org/officeDocument/2006/relationships/extended-properties" Target="/docProps/app.xml" Id="Re3d96045ec6d4836" /><Relationship Type="http://schemas.openxmlformats.org/officeDocument/2006/relationships/officeDocument" Target="/ppt/presentation.xml" Id="R022eb725fd7345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808a6aaffc42b0"/>
  </p:sldMasterIdLst>
  <p:notesMasterIdLst>
    <p:notesMasterId xmlns:r="http://schemas.openxmlformats.org/officeDocument/2006/relationships" r:id="R155f4773c24c43d9"/>
  </p:notesMasterIdLst>
  <p:sldIdLst>
    <p:sldId xmlns:r="http://schemas.openxmlformats.org/officeDocument/2006/relationships" id="256" r:id="R4d9fe4b6660e48a7"/>
    <p:sldId xmlns:r="http://schemas.openxmlformats.org/officeDocument/2006/relationships" id="257" r:id="R296bb1f5498f4dfd"/>
    <p:sldId xmlns:r="http://schemas.openxmlformats.org/officeDocument/2006/relationships" id="258" r:id="Rd37b41a01cea4d4d"/>
    <p:sldId xmlns:r="http://schemas.openxmlformats.org/officeDocument/2006/relationships" id="259" r:id="R6ea319f82fa74c1f"/>
    <p:sldId xmlns:r="http://schemas.openxmlformats.org/officeDocument/2006/relationships" id="260" r:id="R9b50b2349efb42a0"/>
    <p:sldId xmlns:r="http://schemas.openxmlformats.org/officeDocument/2006/relationships" id="261" r:id="Rbce1bc2e6ec6497c"/>
    <p:sldId xmlns:r="http://schemas.openxmlformats.org/officeDocument/2006/relationships" id="262" r:id="R8311b81da5aa4416"/>
    <p:sldId xmlns:r="http://schemas.openxmlformats.org/officeDocument/2006/relationships" id="263" r:id="Re93df3184ba44c4e"/>
    <p:sldId xmlns:r="http://schemas.openxmlformats.org/officeDocument/2006/relationships" id="264" r:id="Raa14318ed9eb40b7"/>
    <p:sldId xmlns:r="http://schemas.openxmlformats.org/officeDocument/2006/relationships" id="265" r:id="R85753ca405cf48ff"/>
    <p:sldId xmlns:r="http://schemas.openxmlformats.org/officeDocument/2006/relationships" id="266" r:id="Rf8703dba8d304e5a"/>
    <p:sldId xmlns:r="http://schemas.openxmlformats.org/officeDocument/2006/relationships" id="267" r:id="R24d863749c0346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c60d69d3c04a62" /><Relationship Type="http://schemas.openxmlformats.org/officeDocument/2006/relationships/slideMaster" Target="/ppt/slideMasters/slideMaster1.xml" Id="R39808a6aaffc42b0" /><Relationship Type="http://schemas.openxmlformats.org/officeDocument/2006/relationships/notesMaster" Target="/ppt/notesMasters/notesMaster1.xml" Id="R155f4773c24c43d9" /><Relationship Type="http://schemas.openxmlformats.org/officeDocument/2006/relationships/presProps" Target="/ppt/presProps.xml" Id="R29bf7ece02cf4dd6" /><Relationship Type="http://schemas.openxmlformats.org/officeDocument/2006/relationships/tableStyles" Target="/ppt/tableStyles.xml" Id="R6c4e0daf83d34ff2" /><Relationship Type="http://schemas.openxmlformats.org/officeDocument/2006/relationships/slide" Target="/ppt/slides/slide1.xml" Id="R4d9fe4b6660e48a7" /><Relationship Type="http://schemas.openxmlformats.org/officeDocument/2006/relationships/slide" Target="/ppt/slides/slide2.xml" Id="R296bb1f5498f4dfd" /><Relationship Type="http://schemas.openxmlformats.org/officeDocument/2006/relationships/slide" Target="/ppt/slides/slide3.xml" Id="Rd37b41a01cea4d4d" /><Relationship Type="http://schemas.openxmlformats.org/officeDocument/2006/relationships/slide" Target="/ppt/slides/slide4.xml" Id="R6ea319f82fa74c1f" /><Relationship Type="http://schemas.openxmlformats.org/officeDocument/2006/relationships/slide" Target="/ppt/slides/slide5.xml" Id="R9b50b2349efb42a0" /><Relationship Type="http://schemas.openxmlformats.org/officeDocument/2006/relationships/slide" Target="/ppt/slides/slide6.xml" Id="Rbce1bc2e6ec6497c" /><Relationship Type="http://schemas.openxmlformats.org/officeDocument/2006/relationships/slide" Target="/ppt/slides/slide7.xml" Id="R8311b81da5aa4416" /><Relationship Type="http://schemas.openxmlformats.org/officeDocument/2006/relationships/slide" Target="/ppt/slides/slide8.xml" Id="Re93df3184ba44c4e" /><Relationship Type="http://schemas.openxmlformats.org/officeDocument/2006/relationships/slide" Target="/ppt/slides/slide9.xml" Id="Raa14318ed9eb40b7" /><Relationship Type="http://schemas.openxmlformats.org/officeDocument/2006/relationships/slide" Target="/ppt/slides/slide10.xml" Id="R85753ca405cf48ff" /><Relationship Type="http://schemas.openxmlformats.org/officeDocument/2006/relationships/slide" Target="/ppt/slides/slide11.xml" Id="Rf8703dba8d304e5a" /><Relationship Type="http://schemas.openxmlformats.org/officeDocument/2006/relationships/slide" Target="/ppt/slides/slide12.xml" Id="R24d863749c0346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37dc9f40294b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10c304e28e4bf4" /><Relationship Type="http://schemas.openxmlformats.org/officeDocument/2006/relationships/notesMaster" Target="/ppt/notesMasters/notesMaster1.xml" Id="Rbc949c367b7b4c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6f0a55f862488b" /><Relationship Type="http://schemas.openxmlformats.org/officeDocument/2006/relationships/notesMaster" Target="/ppt/notesMasters/notesMaster1.xml" Id="R7a742658f22b47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a46e1ec1e34e30" /><Relationship Type="http://schemas.openxmlformats.org/officeDocument/2006/relationships/notesMaster" Target="/ppt/notesMasters/notesMaster1.xml" Id="Re3cbfcb9e2ba47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958b83b12442da" /><Relationship Type="http://schemas.openxmlformats.org/officeDocument/2006/relationships/notesMaster" Target="/ppt/notesMasters/notesMaster1.xml" Id="R54175e9a2c8848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95c11c02914005" /><Relationship Type="http://schemas.openxmlformats.org/officeDocument/2006/relationships/notesMaster" Target="/ppt/notesMasters/notesMaster1.xml" Id="Rb6e83a61bfa645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23884e7f1f4669" /><Relationship Type="http://schemas.openxmlformats.org/officeDocument/2006/relationships/notesMaster" Target="/ppt/notesMasters/notesMaster1.xml" Id="Rc5702f419c5042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642113ecc2480e" /><Relationship Type="http://schemas.openxmlformats.org/officeDocument/2006/relationships/notesMaster" Target="/ppt/notesMasters/notesMaster1.xml" Id="R5d7d8451b69845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040baa66f64a30" /><Relationship Type="http://schemas.openxmlformats.org/officeDocument/2006/relationships/notesMaster" Target="/ppt/notesMasters/notesMaster1.xml" Id="Rd9f7ecb0bc1e47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97404c063c48de" /><Relationship Type="http://schemas.openxmlformats.org/officeDocument/2006/relationships/notesMaster" Target="/ppt/notesMasters/notesMaster1.xml" Id="R1ada35090c7e45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697fec70da4ee8" /><Relationship Type="http://schemas.openxmlformats.org/officeDocument/2006/relationships/notesMaster" Target="/ppt/notesMasters/notesMaster1.xml" Id="R41e7f5df0ec645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5509e3501148d9" /><Relationship Type="http://schemas.openxmlformats.org/officeDocument/2006/relationships/notesMaster" Target="/ppt/notesMasters/notesMaster1.xml" Id="Rac8f437ac3fd4c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076e93a6a94ad7" /><Relationship Type="http://schemas.openxmlformats.org/officeDocument/2006/relationships/notesMaster" Target="/ppt/notesMasters/notesMaster1.xml" Id="Rba9bc6b0fac540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封面。画面来自最新版游戏主菜单。作品在代码、文案、版面与测试脚本环节使用 AI 辅助，学生完成修改和验收。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设计核心：行走、靠近、游玩。游戏不再使用大段文字关卡，而是用空间与手势组织节气习俗体验。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四季地图分别使用嫩绿、亮黄、橙金、冰蓝，并加入雨、烈日、落叶、下雪四种程序化天气效果。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WASD 移动与节气碑互动已经过浏览器测试；移动端显示虚拟摇杆和较大的互动按钮。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 个节气碑全部对应习俗小游戏；完成每季 6 个后解锁下一季。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六类机制分别是收集、节奏、时机、分类、行进、顺序记忆。相同机制会根据节气习俗更换目标、对象和场景。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立春使用收集玩法，春分使用时机玩法。所有小游戏都有短提示、即时反馈、完成动画和星级。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习俗资料来自公开通行传统文化资料；地方习俗具有地域差异，游戏内均使用限定表达。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玩家完成节气碑获得星级，完成一季后解锁下一季，四季全部完成后进入通关画面。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游戏使用 Canvas 程序化绘制场景与天气，原生 JavaScript 管理世界与小游戏状态，localStorage 保存进度。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与普通节气图片页或文字答题页的区别在于空间、移动、节气碑、天气与小游戏机制。AI 参与情况按赛事要求在作品说明、海报、PPT 中显著标注。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结束页展示四季通关画面。游戏让玩家通过行走、靠近和游玩重新理解节气习俗。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6aa51eb6049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89deb7d28d44f1" /><Relationship Type="http://schemas.openxmlformats.org/officeDocument/2006/relationships/slideLayout" Target="/ppt/slideLayouts/slideLayout1.xml" Id="R023e5748492d4e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e5748492d4e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ae92bb04144ea" /><Relationship Type="http://schemas.openxmlformats.org/officeDocument/2006/relationships/image" Target="/ppt/media/image.png" Id="Rf6dc830e37634208" /><Relationship Type="http://schemas.openxmlformats.org/officeDocument/2006/relationships/notesSlide" Target="/ppt/notesSlides/notesSlide1.xml" Id="Rbba7b6cb7b014d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dac35eb2b4837" /><Relationship Type="http://schemas.openxmlformats.org/officeDocument/2006/relationships/notesSlide" Target="/ppt/notesSlides/notesSlide2.xml" Id="R83a147b98cf840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2db34e7e2433e" /><Relationship Type="http://schemas.openxmlformats.org/officeDocument/2006/relationships/image" Target="/ppt/media/image2.png" Id="R7d860aa91588449c" /><Relationship Type="http://schemas.openxmlformats.org/officeDocument/2006/relationships/image" Target="/ppt/media/image3.png" Id="R0ff31d904eb14f85" /><Relationship Type="http://schemas.openxmlformats.org/officeDocument/2006/relationships/image" Target="/ppt/media/image4.png" Id="Rfb239ed0057c4a7c" /><Relationship Type="http://schemas.openxmlformats.org/officeDocument/2006/relationships/image" Target="/ppt/media/image5.png" Id="R67076a69591b41e7" /><Relationship Type="http://schemas.openxmlformats.org/officeDocument/2006/relationships/notesSlide" Target="/ppt/notesSlides/notesSlide3.xml" Id="R1938ab4c415943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63ea2064b47d1" /><Relationship Type="http://schemas.openxmlformats.org/officeDocument/2006/relationships/notesSlide" Target="/ppt/notesSlides/notesSlide4.xml" Id="R66b0b741ca4842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0e5e7c8fe4f65" /><Relationship Type="http://schemas.openxmlformats.org/officeDocument/2006/relationships/notesSlide" Target="/ppt/notesSlides/notesSlide5.xml" Id="Ra09490db000c4c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2816fcff84e75" /><Relationship Type="http://schemas.openxmlformats.org/officeDocument/2006/relationships/notesSlide" Target="/ppt/notesSlides/notesSlide6.xml" Id="R91d325b4dd8443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4e1bf3cf04078" /><Relationship Type="http://schemas.openxmlformats.org/officeDocument/2006/relationships/image" Target="/ppt/media/image6.png" Id="Rd4d8ecc85c664877" /><Relationship Type="http://schemas.openxmlformats.org/officeDocument/2006/relationships/image" Target="/ppt/media/image7.png" Id="Re70943f42b5c42eb" /><Relationship Type="http://schemas.openxmlformats.org/officeDocument/2006/relationships/notesSlide" Target="/ppt/notesSlides/notesSlide7.xml" Id="R6c91213c7e0744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9937623444f94" /><Relationship Type="http://schemas.openxmlformats.org/officeDocument/2006/relationships/notesSlide" Target="/ppt/notesSlides/notesSlide8.xml" Id="Rb38e5f8d935543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1ce97724844be" /><Relationship Type="http://schemas.openxmlformats.org/officeDocument/2006/relationships/notesSlide" Target="/ppt/notesSlides/notesSlide9.xml" Id="R223690da3c804b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509e85e5848de" /><Relationship Type="http://schemas.openxmlformats.org/officeDocument/2006/relationships/notesSlide" Target="/ppt/notesSlides/notesSlide10.xml" Id="R430b96a8113c42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7256f21c64306" /><Relationship Type="http://schemas.openxmlformats.org/officeDocument/2006/relationships/notesSlide" Target="/ppt/notesSlides/notesSlide11.xml" Id="R3d546f9da17746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160999a714c03" /><Relationship Type="http://schemas.openxmlformats.org/officeDocument/2006/relationships/image" Target="/ppt/media/image8.png" Id="R2b80916bac0845b1" /><Relationship Type="http://schemas.openxmlformats.org/officeDocument/2006/relationships/notesSlide" Target="/ppt/notesSlides/notesSlide12.xml" Id="R475e7b8e00284f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c830e37634208"/>
          <a:srcRect xmlns:a="http://schemas.openxmlformats.org/drawingml/2006/main" l="19618" t="0" r="196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C12BB-F87F-47DF-84DE-BA7C02BD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8E5"/>
              </a:gs>
              <a:gs pos="76000">
                <a:srgbClr val="FFF8E5"/>
              </a:gs>
              <a:gs pos="100000">
                <a:srgbClr val="FFF8E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4AB1A-97BD-4461-ABAD-290E318B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MILAN DESIGN WEEK · 触摸时间 · 魅力节气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7069F-DFAF-46AB-8F41-76FFC9D6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49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节气行旅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8CAB5-F54F-48C7-A91C-2A72ACBE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2025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二十四节气的物候解谜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79025-DF32-4B00-85BC-A0B04690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523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走进四季地图，操控小小观察员，</a:t>
            </a:r>
          </a:p>
          <a:p xmlns:a="http://schemas.openxmlformats.org/drawingml/2006/main">
            <a:pPr algn="l">
              <a:def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在 24 个节气碑前完成习俗小游戏。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B172B-A3BE-4D30-933C-D1D79017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45720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3F7EA"/>
          </a:solidFill>
          <a:ln xmlns:a="http://schemas.openxmlformats.org/drawingml/2006/main" w="9525">
            <a:solidFill>
              <a:srgbClr val="DCE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22CD-A288-434A-8861-F6E2002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rPr>
              <a:t>WASD 移动  ·  E / 空格互动  ·  手机虚拟摇杆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44064-391F-4E7B-B6A6-03ABABCC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4 季地图    24 个节气碑    24 个习俗小游戏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1D255-918C-4181-BAD8-1E9C653F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531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751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C7513E"/>
                </a:solidFill>
                <a:latin typeface="Microsoft YaHei"/>
                <a:ea typeface="Microsoft YaHei"/>
                <a:cs typeface="Microsoft YaHei"/>
              </a:rPr>
              <a:t>AI 辅助设计：代码、文案与版面初稿；学生修改、试玩与验收。</a:t>
            </a:r>
          </a:p>
        </p:txBody>
      </p:sp>
    </p:spTree>
    <p:extLst>
      <p:ext uri="{BB962C8B-B14F-4D97-AF65-F5344CB8AC3E}">
        <p14:creationId xmlns:p14="http://schemas.microsoft.com/office/powerpoint/2010/main" val="871800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A2A0E-9C6B-4403-8BEA-70DA96DA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D001C-875B-45D1-B6F6-1066A4CD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设计转向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0FAD3-3F0E-49FD-855F-BBA35105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D9858-0CAB-49CF-AE70-7D321C65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8D20D-1E99-44D1-BC83-1D295FB7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DESIGN SHIFT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B3787-4401-4008-AE44-66BE5DD0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从“阅读节气”到“走进节气”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D9EC7-82E9-4C3A-8BBC-2DC780ED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不是增加更多文字，而是把时间变成可以移动、靠近和游玩的空间。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57466-0C5C-471C-87F1-F568FC0F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5242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6F5D9"/>
          </a:solidFill>
          <a:ln xmlns:a="http://schemas.openxmlformats.org/drawingml/2006/main" w="19050">
            <a:solidFill>
              <a:srgbClr val="4F9F5A">
                <a:alpha val="3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D728E-D5BD-476F-B5BC-A355F72C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42E07-E4DC-4DB4-87FD-B26607D2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9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FAB0B-D250-4F5A-A943-CE40DBB9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行走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593D7-3C29-428A-8F30-2826B8B5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WASD 或方向键控制观察员在四季地图中移动。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DA99D-CE2C-435C-9E2C-A15F61C0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24100"/>
            <a:ext cx="35242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0C5"/>
          </a:solidFill>
          <a:ln xmlns:a="http://schemas.openxmlformats.org/drawingml/2006/main" w="19050">
            <a:solidFill>
              <a:srgbClr val="DC8D26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496DC-B14E-41D6-A639-EA330DA3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3B879-D68C-41DC-9047-4D6A26BF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9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23C74-DAC3-464F-80E3-EBA65DAE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86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C8D26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DC8D26"/>
                </a:solidFill>
                <a:latin typeface="STSong"/>
                <a:ea typeface="STSong"/>
                <a:cs typeface="STSong"/>
              </a:rPr>
              <a:t>靠近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55D52-F805-470F-A352-8625984B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766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地图上的节气碑发光，角色接近后出现互动提示。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84DDE-09B9-4CF9-A9FD-60557F77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352425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BE7C5"/>
          </a:solidFill>
          <a:ln xmlns:a="http://schemas.openxmlformats.org/drawingml/2006/main" w="19050">
            <a:solidFill>
              <a:srgbClr val="D17F2F">
                <a:alpha val="3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CE1D5-7486-40E8-9A1F-1D7D2729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7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A22ED-BE74-4FA2-9D9A-6FF7E927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9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01E20-1580-4B47-9AB1-5EC9403D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17F2F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D17F2F"/>
                </a:solidFill>
                <a:latin typeface="STSong"/>
                <a:ea typeface="STSong"/>
                <a:cs typeface="STSong"/>
              </a:rPr>
              <a:t>游玩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6341C-C3C2-4AAC-B7C6-4AAF331D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766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每块碑对应一个习俗小游戏，完成后点亮季节。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3CF59-91A7-474C-AC3E-5CF4CAB3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98127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B98127"/>
                </a:solidFill>
                <a:latin typeface="STSong"/>
                <a:ea typeface="STSong"/>
                <a:cs typeface="STSong"/>
              </a:rPr>
              <a:t>“触摸时间”不是背景设定，而是玩家真实发生的三种动作。</a:t>
            </a:r>
          </a:p>
        </p:txBody>
      </p:sp>
    </p:spTree>
    <p:extLst>
      <p:ext uri="{BB962C8B-B14F-4D97-AF65-F5344CB8AC3E}">
        <p14:creationId xmlns:p14="http://schemas.microsoft.com/office/powerpoint/2010/main" val="2143724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6D450-ECB6-471F-BF1F-217C061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8D9CD-3DCA-416A-9465-79AFB2AE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四季场景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4B5D3-FB2A-4960-A2F1-DA3866F4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BCF67-BDED-4DCC-8B02-415D5ED9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0B4AB-881D-4FD8-8673-84B8BBED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FOUR SEASONS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0D37F-66C2-46CF-8870-F55C30E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四种颜色，四种天气，四张可走的地图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36333-47EB-4A6D-8D0B-D8426912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每一季 6 个节气碑，全部使用独立色板和天气粒子。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60aa91588449c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2095500"/>
            <a:ext cx="2647950" cy="1838325"/>
          </a:xfrm>
          <a:prstGeom xmlns:a="http://schemas.openxmlformats.org/drawingml/2006/main" prst="roundRect">
            <a:avLst>
              <a:gd name="adj" fmla="val 829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224B1-9740-40C6-8A2D-28B79201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2647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6F5D9"/>
          </a:solidFill>
          <a:ln xmlns:a="http://schemas.openxmlformats.org/drawingml/2006/main" w="9525">
            <a:solidFill>
              <a:srgbClr val="4F9F5A">
                <a:alpha val="3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F3BF2-81B7-4C49-97CF-628FF13D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rPr>
              <a:t>春之章 · 雨生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24897-92C3-448A-8AE2-2EA1A957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细雨 / 花瓣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31d904eb14f85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4225" y="2095500"/>
            <a:ext cx="2647950" cy="1838325"/>
          </a:xfrm>
          <a:prstGeom xmlns:a="http://schemas.openxmlformats.org/drawingml/2006/main" prst="roundRect">
            <a:avLst>
              <a:gd name="adj" fmla="val 829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22F9E-01A4-4F39-B3BC-7FBB1C8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00500"/>
            <a:ext cx="2647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C5"/>
          </a:solidFill>
          <a:ln xmlns:a="http://schemas.openxmlformats.org/drawingml/2006/main" w="9525">
            <a:solidFill>
              <a:srgbClr val="DC8D26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1DE7E-DF7F-4315-B2A6-061E68AD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9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8D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8D26"/>
                </a:solidFill>
                <a:latin typeface="Microsoft YaHei"/>
                <a:ea typeface="Microsoft YaHei"/>
                <a:cs typeface="Microsoft YaHei"/>
              </a:rPr>
              <a:t>夏之章 · 长明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A0275-BD0F-42B3-AEE5-086C1D7E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324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烈日 / 热浪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39ed0057c4a7c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095500"/>
            <a:ext cx="2647950" cy="1838325"/>
          </a:xfrm>
          <a:prstGeom xmlns:a="http://schemas.openxmlformats.org/drawingml/2006/main" prst="roundRect">
            <a:avLst>
              <a:gd name="adj" fmla="val 829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AA47E-E51F-4481-B637-FBD3114B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2647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BE7C5"/>
          </a:solidFill>
          <a:ln xmlns:a="http://schemas.openxmlformats.org/drawingml/2006/main" w="9525">
            <a:solidFill>
              <a:srgbClr val="D17F2F">
                <a:alpha val="3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84FD6-FB0E-42D2-A1AD-E7B91AF6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7F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17F2F"/>
                </a:solidFill>
                <a:latin typeface="Microsoft YaHei"/>
                <a:ea typeface="Microsoft YaHei"/>
                <a:cs typeface="Microsoft YaHei"/>
              </a:rPr>
              <a:t>秋之章 · 丰收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80AD9-17C9-4FFC-9E67-AE9AB6F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金风 / 落叶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76a69591b41e7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0175" y="2095500"/>
            <a:ext cx="2647950" cy="1838325"/>
          </a:xfrm>
          <a:prstGeom xmlns:a="http://schemas.openxmlformats.org/drawingml/2006/main" prst="roundRect">
            <a:avLst>
              <a:gd name="adj" fmla="val 829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98A74-3829-4DB1-9B8D-1DC1F3D1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00500"/>
            <a:ext cx="2647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4F3F8"/>
          </a:solidFill>
          <a:ln xmlns:a="http://schemas.openxmlformats.org/drawingml/2006/main" w="9525">
            <a:solidFill>
              <a:srgbClr val="4C86AD">
                <a:alpha val="3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0DB6B-35C5-4367-B77D-2C594F64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9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6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6AD"/>
                </a:solidFill>
                <a:latin typeface="Microsoft YaHei"/>
                <a:ea typeface="Microsoft YaHei"/>
                <a:cs typeface="Microsoft YaHei"/>
              </a:rPr>
              <a:t>冬之章 · 瑞雪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996CB-024D-4D45-8D93-13BAEAC9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24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飘雪 / 冰面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FE955-F49A-4CAB-BF8B-B3C6758F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季节色会同步改变 HUD、节气碑、菜单与场景氛围。</a:t>
            </a:r>
          </a:p>
        </p:txBody>
      </p:sp>
    </p:spTree>
    <p:extLst>
      <p:ext uri="{BB962C8B-B14F-4D97-AF65-F5344CB8AC3E}">
        <p14:creationId xmlns:p14="http://schemas.microsoft.com/office/powerpoint/2010/main" val="271872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1EE502-432D-4A34-ADDF-0CEDB9F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E67B6-AC67-49BB-9BF1-D157D661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移动与互动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2C7CD-6150-4E58-8540-4700CDD0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79E14-D74A-4EB2-8924-22462099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C2F97-18E3-4EB5-8FCA-A0EA93C8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WALK &amp; TOUCH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48E00-B9F9-454B-8F66-F84E9B68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角色的移动就是玩法的一部分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8F778-64BE-4D8B-A1B7-BF5AA3F6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角色不是装饰；玩家需要走到节气碑前，才会触发习俗游戏。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42BF1-A48A-4B9D-8EE4-FA30F624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6572250" cy="3143250"/>
          </a:xfrm>
          <a:prstGeom xmlns:a="http://schemas.openxmlformats.org/drawingml/2006/main" prst="roundRect">
            <a:avLst>
              <a:gd name="adj" fmla="val 7879"/>
            </a:avLst>
          </a:prstGeom>
          <a:solidFill xmlns:a="http://schemas.openxmlformats.org/drawingml/2006/main">
            <a:srgbClr val="F8FBF2"/>
          </a:solidFill>
          <a:ln xmlns:a="http://schemas.openxmlformats.org/drawingml/2006/main" w="19050">
            <a:solidFill>
              <a:srgbClr val="D7E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7710E-544B-4E7E-AF0C-86EC4D5D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14625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4F9F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9C58B-6881-4A81-A11C-66CAFDD2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20BE8-47C6-4E21-824E-329321A5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4F9F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D5475-D568-4FDE-AB02-F9B748F0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813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DB8B0-4556-4742-8C0F-A1AF050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86125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4F9F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F6855-B107-4FD2-B788-3BB9C0CC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813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38FE9-0B1D-4253-BFAE-830B75E4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86125"/>
            <a:ext cx="457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4F9F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24EC0-9908-4DDE-9602-864C7267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813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F4CFB-1BB1-4B4B-A1A5-DC3A1C07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rPr>
              <a:t>WASD / 方向键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E6D91-56CA-4045-927B-4981D269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975B4-A944-4F1A-A0B9-12F03D11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67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C8D26"/>
                </a:solidFill>
                <a:latin typeface="STSong"/>
                <a:ea typeface="STSong"/>
                <a:cs typeface="STSong"/>
              </a:defRPr>
            </a:pPr>
            <a:r>
              <a:rPr sz="2250" b="0">
                <a:solidFill>
                  <a:srgbClr val="DC8D26"/>
                </a:solidFill>
                <a:latin typeface="STSong"/>
                <a:ea typeface="STSong"/>
                <a:cs typeface="STSong"/>
              </a:rPr>
              <a:t>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57511-0679-4158-BFCC-40B71E60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8D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8D26"/>
                </a:solidFill>
                <a:latin typeface="Microsoft YaHei"/>
                <a:ea typeface="Microsoft YaHei"/>
                <a:cs typeface="Microsoft YaHei"/>
              </a:rPr>
              <a:t>靠近节气碑 → E / 空格进入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D15D5-E06C-45D8-9074-041522A4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A4585-CB41-4908-B0AC-47D3DF55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193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4F546-1EF9-4608-8639-0FE4E280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自由探索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FE1D9-BD16-41AD-98A6-C798CA5C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03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相机平滑跟随，地图边界限制角色。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5596C7-BBFC-4406-8082-CC5C7174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5504D7-B064-43FB-82BD-3281A942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90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E7FBB5-F00A-4D5E-BC6D-D0DA5285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8D26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DC8D26"/>
                </a:solidFill>
                <a:latin typeface="STSong"/>
                <a:ea typeface="STSong"/>
                <a:cs typeface="STSong"/>
              </a:rPr>
              <a:t>节气碑交互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2C79E-BF93-4C4C-B807-04737BA6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718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靠近后出现“立春·咬春”等互动提示。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5B6F22-255F-4A3A-8191-03F034C8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05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44E23-D7CC-4425-9818-6F2B487C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3624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6F9428-A0C0-43C5-8928-C594F515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86AD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4C86AD"/>
                </a:solidFill>
                <a:latin typeface="STSong"/>
                <a:ea typeface="STSong"/>
                <a:cs typeface="STSong"/>
              </a:rPr>
              <a:t>触屏兼容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AE5318-BA7A-4BA2-8813-D04C1907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434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手机显示虚拟摇杆与 68px 互动按钮。</a:t>
            </a:r>
          </a:p>
        </p:txBody>
      </p:sp>
    </p:spTree>
    <p:extLst>
      <p:ext uri="{BB962C8B-B14F-4D97-AF65-F5344CB8AC3E}">
        <p14:creationId xmlns:p14="http://schemas.microsoft.com/office/powerpoint/2010/main" val="692253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06AECCF-72E7-446E-9C96-F4F067D4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9739B-483C-4D5A-82C3-B4E0E62B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关卡结构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85F19-4B38-4E0D-B48F-587109C3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42CB8-0767-4CEE-BACE-29EAE401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FA89A-ADBB-4DD8-9C1F-2B5E9633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24 CUSTOM GAMES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0ABF1-2BB6-495A-8ADD-A78ECFE9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4 季 × 每季 6 个节气碑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6FD32-7882-4564-A4F2-471A9FBD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每关不是知识点，而是一个与习俗动作对应的可玩挑战。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59D4D-12D8-421B-80AB-FAC87F83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33600"/>
            <a:ext cx="2628900" cy="3714750"/>
          </a:xfrm>
          <a:prstGeom xmlns:a="http://schemas.openxmlformats.org/drawingml/2006/main" prst="roundRect">
            <a:avLst>
              <a:gd name="adj" fmla="val 7971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4F9F5A">
                <a:alpha val="3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0F131-C4CD-4A79-93D9-4DAB980D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45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B9F87-5496-47E7-BE26-A125DE3E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247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F9F5A">
                <a:alpha val="4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F7140-7809-4C55-828B-0802FA11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9BE52-2BA8-4C28-9FF0-8702C2F1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860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立春 咬春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79FED-77D8-4640-A02A-1CE5F229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F9D68-A0CC-45A4-B9C8-A989AEDB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95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雨水 占稻色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8C866-BEF4-43B8-A916-63BE5BA4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8A716-FBFA-49A6-9942-4C514A57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052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惊蛰 蒙鼓皮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59DA7-4EAE-4942-AE78-139BFB7C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33635-B995-4922-9379-675C3F1E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14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春分 竖蛋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DBB6E-9605-4579-9887-356B47CA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6D326-E002-4D97-861F-F3E82495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24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清明 放纸鸢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082395-23AC-4DEA-9B8F-639B213C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01D40-E680-48DD-91A3-B684BF94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33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谷雨 采茶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2A30C-53BA-4701-B8FC-4C0C7753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628900" cy="3714750"/>
          </a:xfrm>
          <a:prstGeom xmlns:a="http://schemas.openxmlformats.org/drawingml/2006/main" prst="roundRect">
            <a:avLst>
              <a:gd name="adj" fmla="val 7971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DC8D26">
                <a:alpha val="3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E6D4D-E0FE-4961-8C82-1E5C5C12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145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8D26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DC8D26"/>
                </a:solidFill>
                <a:latin typeface="STSong"/>
                <a:ea typeface="STSong"/>
                <a:cs typeface="STSong"/>
              </a:rPr>
              <a:t>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02237B-87CB-4C57-A3C3-D1A29306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247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8D26">
                <a:alpha val="4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171FD-99B6-4D3B-9ECE-870C2576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59C99-16C4-4072-8B6C-D5B93691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860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立夏 斗蛋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33F526-11EB-49D4-974A-4344747C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A99D6A-59EC-4183-9924-ED5E5EA7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295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小满 水车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94240-FFC2-4BB9-A6D9-85730BF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A7E5AE-80B0-4999-9CB8-C8EB6FCE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052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芒种 收种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74ED4A-9E8D-4A03-9F55-D47BB728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D8974D-F2A3-4B21-8646-BA58A37A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14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夏至 做面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BE0225-DACD-47A0-8740-CFF274AF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DBDA6D-3F14-4D41-B996-2A9BCAA6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24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小暑 晒衣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17EA78-C047-4245-9197-8BB6C74C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8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81E9AA-9F72-49FB-B786-8A2F8D0A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33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大暑 送船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F71E73-E682-40A1-8672-32CCC67A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2628900" cy="3714750"/>
          </a:xfrm>
          <a:prstGeom xmlns:a="http://schemas.openxmlformats.org/drawingml/2006/main" prst="roundRect">
            <a:avLst>
              <a:gd name="adj" fmla="val 7971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D17F2F">
                <a:alpha val="3333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5B5988-AE39-4B7C-8BBD-77596176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145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17F2F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D17F2F"/>
                </a:solidFill>
                <a:latin typeface="STSong"/>
                <a:ea typeface="STSong"/>
                <a:cs typeface="STSong"/>
              </a:rPr>
              <a:t>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2A7475-9295-40AD-9642-8D7A31A3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2247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7F2F">
                <a:alpha val="4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4C326A-B73D-4C13-88B1-EED443F9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7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9F2E59-06F2-4DE6-9FEF-343739ED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860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立秋 晒秋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65A0D8-C7E3-47C8-98D6-4122371F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7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5ACD2E-FFD3-4D6C-9110-148489A2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处暑 河灯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D9FBD3-B7FF-4159-B11B-D6CEF129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7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EA632E-6D8C-4C5D-91A3-0244D0A5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052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白露 收露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7AA354-355C-48FF-B4AA-0F0B742A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7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D4FC9A-5677-4173-BF72-1E2B3834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14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秋分 祭月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D70C28-1A93-4D2B-8A17-6F46A68D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7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7EFA47-7D97-4BC4-B291-F00019A0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24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寒露 登高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133CDC-E1B5-4745-B06A-169358DF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7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33E4B9-6780-4845-AF4C-E7F13DF3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933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霜降 摘柿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35FAAF-3B70-4C73-9C07-61B8DFA2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2628900" cy="3714750"/>
          </a:xfrm>
          <a:prstGeom xmlns:a="http://schemas.openxmlformats.org/drawingml/2006/main" prst="roundRect">
            <a:avLst>
              <a:gd name="adj" fmla="val 7971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4C86AD">
                <a:alpha val="33333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03D689-113E-4175-B222-706B05E0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145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C86AD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4C86AD"/>
                </a:solidFill>
                <a:latin typeface="STSong"/>
                <a:ea typeface="STSong"/>
                <a:cs typeface="STSong"/>
              </a:rPr>
              <a:t>冬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2B6DD4-39AB-47AC-B0C3-506C8BFF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247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86AD">
                <a:alpha val="4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08F08E-5157-4AED-B150-85E1C07E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AB8D34-4310-401B-ACA7-F4762EAE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860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立冬 包饺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B976C0-ED09-423C-B2E0-109ABCD4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68773C-3AAB-428D-8661-9904E29D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295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小雪 腌腊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C238CB-C31B-42E0-B1A0-4F5369AE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46F87D-CD9E-442C-87A0-1B4F62C5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052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大雪 扫雪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2AD77F-EA03-419E-B066-A1126633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7DFD55-9FF9-4194-B830-FB7927A1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14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冬至 汤圆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5E7AFE-3FB7-4930-9DC9-E1605854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ECB20D-DD4B-44F9-A44F-302F940D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524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小寒 腊八粥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EB146C-F1CB-4966-8961-1E71A9CF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F4C7357-FB6C-48D4-AA3B-41E3DE93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933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大寒 除尘</a:t>
            </a:r>
          </a:p>
        </p:txBody>
      </p:sp>
    </p:spTree>
    <p:extLst>
      <p:ext uri="{BB962C8B-B14F-4D97-AF65-F5344CB8AC3E}">
        <p14:creationId xmlns:p14="http://schemas.microsoft.com/office/powerpoint/2010/main" val="1872838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704B5B-864F-4FBB-AF2E-7A604615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F2C80-C8E1-488F-9204-17CC8A64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玩法谱系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4A19D-025C-4921-82F6-E0FAA746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ECED2-CAD3-4106-B960-4E5DA69A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00E56-DA86-4D6F-B7DA-3FD0EFAD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SIX GAME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5B266-A318-4727-97A4-D7B49D74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六类操作，覆盖 24 个习俗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7E1EC-9752-43A7-A1E6-E8301D9B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同一引擎下提供不同手势，让节气不再只有“点选项”。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C7391-547F-4AD3-AF73-A608CA44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524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6F5D9"/>
          </a:solidFill>
          <a:ln xmlns:a="http://schemas.openxmlformats.org/drawingml/2006/main" w="19050">
            <a:solidFill>
              <a:srgbClr val="4F9F5A">
                <a:alpha val="3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898AC-0022-4680-B278-C3AC552A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1950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收集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7ADB2-21E0-46DF-8946-B33D0396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移动篮子接住目标物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24D24-DA1A-4077-832B-3E1A3E35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咬春 / 收露 / 汤圆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DA0BB-049C-40C7-BEA3-F9B7C2ED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524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C5"/>
          </a:solidFill>
          <a:ln xmlns:a="http://schemas.openxmlformats.org/drawingml/2006/main" w="19050">
            <a:solidFill>
              <a:srgbClr val="DC8D26">
                <a:alpha val="3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F0A8B-61C8-4352-9D0C-AD946C1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8D26"/>
                </a:solidFill>
                <a:latin typeface="STSong"/>
                <a:ea typeface="STSong"/>
                <a:cs typeface="STSong"/>
              </a:defRPr>
            </a:pPr>
            <a:r>
              <a:rPr sz="1950" b="0">
                <a:solidFill>
                  <a:srgbClr val="DC8D26"/>
                </a:solidFill>
                <a:latin typeface="STSong"/>
                <a:ea typeface="STSong"/>
                <a:cs typeface="STSong"/>
              </a:rPr>
              <a:t>节奏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18F66-AD27-4D6E-ABDF-B6170D3E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194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节拍环收拢时点击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46F94-3940-4B3B-BB12-1F146710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蒙鼓 / 水车 / 登高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6E83E-58F4-45BC-A32D-EDC1D13C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524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BE7C5"/>
          </a:solidFill>
          <a:ln xmlns:a="http://schemas.openxmlformats.org/drawingml/2006/main" w="19050">
            <a:solidFill>
              <a:srgbClr val="D17F2F">
                <a:alpha val="3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B31D0-7D69-45D0-9290-A837F0F1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17F2F"/>
                </a:solidFill>
                <a:latin typeface="STSong"/>
                <a:ea typeface="STSong"/>
                <a:cs typeface="STSong"/>
              </a:defRPr>
            </a:pPr>
            <a:r>
              <a:rPr sz="1950" b="0">
                <a:solidFill>
                  <a:srgbClr val="D17F2F"/>
                </a:solidFill>
                <a:latin typeface="STSong"/>
                <a:ea typeface="STSong"/>
                <a:cs typeface="STSong"/>
              </a:rPr>
              <a:t>时机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34378-DDF5-4576-9A09-B54DF8C9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游标进入绿色区域时停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647DC-D7F8-450E-8BCC-07D4FC4B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竖蛋 / 斗蛋 / 摘柿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1C1B0-630E-4657-B2EC-E784EDF2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3524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4F3F8"/>
          </a:solidFill>
          <a:ln xmlns:a="http://schemas.openxmlformats.org/drawingml/2006/main" w="19050">
            <a:solidFill>
              <a:srgbClr val="4C86AD">
                <a:alpha val="33333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EC245-152A-478D-9119-2DA651CC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C86AD"/>
                </a:solidFill>
                <a:latin typeface="STSong"/>
                <a:ea typeface="STSong"/>
                <a:cs typeface="STSong"/>
              </a:defRPr>
            </a:pPr>
            <a:r>
              <a:rPr sz="1950" b="0">
                <a:solidFill>
                  <a:srgbClr val="4C86AD"/>
                </a:solidFill>
                <a:latin typeface="STSong"/>
                <a:ea typeface="STSong"/>
                <a:cs typeface="STSong"/>
              </a:rPr>
              <a:t>分类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605333-71B1-494C-A71D-D57124D8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把物件放进正确类别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7D8CB-86C0-49AA-B535-E2EC9863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收种 / 晒衣 / 腌腊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B1978-A036-4707-ADAE-84630A39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3524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6EACD"/>
          </a:solidFill>
          <a:ln xmlns:a="http://schemas.openxmlformats.org/drawingml/2006/main" w="19050">
            <a:solidFill>
              <a:srgbClr val="B98127">
                <a:alpha val="3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1B84F-AA8D-4717-9AB4-42F02F02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38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98127"/>
                </a:solidFill>
                <a:latin typeface="STSong"/>
                <a:ea typeface="STSong"/>
                <a:cs typeface="STSong"/>
              </a:defRPr>
            </a:pPr>
            <a:r>
              <a:rPr sz="1950" b="0">
                <a:solidFill>
                  <a:srgbClr val="B98127"/>
                </a:solidFill>
                <a:latin typeface="STSong"/>
                <a:ea typeface="STSong"/>
                <a:cs typeface="STSong"/>
              </a:rPr>
              <a:t>行进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96379-AB67-4AF9-B768-8EBCAF3C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530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左右控制角色或器物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10419-8010-4691-92BB-1FADEA53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292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纸鸢 / 河灯 / 扫雪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0E55E1-9A97-474B-B9F0-19113BAA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3524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8E6E0"/>
          </a:solidFill>
          <a:ln xmlns:a="http://schemas.openxmlformats.org/drawingml/2006/main" w="19050">
            <a:solidFill>
              <a:srgbClr val="C7513E">
                <a:alpha val="3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3F7FBE-A87D-44C8-90E3-686F700A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38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7513E"/>
                </a:solidFill>
                <a:latin typeface="STSong"/>
                <a:ea typeface="STSong"/>
                <a:cs typeface="STSong"/>
              </a:defRPr>
            </a:pPr>
            <a:r>
              <a:rPr sz="1950" b="0">
                <a:solidFill>
                  <a:srgbClr val="C7513E"/>
                </a:solidFill>
                <a:latin typeface="STSong"/>
                <a:ea typeface="STSong"/>
                <a:cs typeface="STSong"/>
              </a:rPr>
              <a:t>顺序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B8538A-1017-4D7C-8D14-E245BB94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530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记住并复现步骤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7CED6B-2981-4DA3-838E-25BAB7B9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292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夏至面 / 包饺子 / 腊八粥</a:t>
            </a:r>
          </a:p>
        </p:txBody>
      </p:sp>
    </p:spTree>
    <p:extLst>
      <p:ext uri="{BB962C8B-B14F-4D97-AF65-F5344CB8AC3E}">
        <p14:creationId xmlns:p14="http://schemas.microsoft.com/office/powerpoint/2010/main" val="1922820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C70A5-68D6-42BE-89E6-46DF8508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B45B8-C2BF-4533-81B9-989C10D6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小游戏示例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782DC-BDA3-4E08-81AE-B7094CD4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0DB28-9058-4E39-BB36-E9E5D149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C0780-8811-4A33-9466-AF4550C7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PLAY THE CUSTOM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9133B-C40D-4011-936F-170E813D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习俗不是文字说明，而是手上的动作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F5BA4-5BB8-49F6-BC01-CCDE9DBE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两个例子：立春准备咬春食材，春分在合适时机让鸡蛋站稳。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8ecc85c664877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47875"/>
            <a:ext cx="5295900" cy="3676650"/>
          </a:xfrm>
          <a:prstGeom xmlns:a="http://schemas.openxmlformats.org/drawingml/2006/main" prst="roundRect">
            <a:avLst>
              <a:gd name="adj" fmla="val 4145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943f42b5c42eb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2047875"/>
            <a:ext cx="5295900" cy="3676650"/>
          </a:xfrm>
          <a:prstGeom xmlns:a="http://schemas.openxmlformats.org/drawingml/2006/main" prst="roundRect">
            <a:avLst>
              <a:gd name="adj" fmla="val 414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E8686-2423-4730-95F1-3E93CC48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立春 · 咬春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39E88-228B-4A79-B2F5-0D06458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接住春饼、萝卜、韭黄，避开石块。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98517-4DB1-4AA9-B157-BE2B6808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57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8127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B98127"/>
                </a:solidFill>
                <a:latin typeface="STSong"/>
                <a:ea typeface="STSong"/>
                <a:cs typeface="STSong"/>
              </a:rPr>
              <a:t>春分 · 竖蛋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5EC37-32A7-45FA-B7C9-BC8BE992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172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在绿色时机区停下，挑战重心与耐心。</a:t>
            </a:r>
          </a:p>
        </p:txBody>
      </p:sp>
    </p:spTree>
    <p:extLst>
      <p:ext uri="{BB962C8B-B14F-4D97-AF65-F5344CB8AC3E}">
        <p14:creationId xmlns:p14="http://schemas.microsoft.com/office/powerpoint/2010/main" val="514961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FABB88-07C1-490B-9713-9FC2AFB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8B8BF-5C7F-4938-8AF8-BD071DE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文化内容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73BAD-1FA7-4502-ADF2-A50BA665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A9DF8-5291-40A2-8D05-319D76F8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AB050-60EC-41FD-BDF3-3D4E61E4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CUSTOMS IN 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FAA67-B516-4670-9486-77396076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让小游戏回到节令生活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8DA60-D376-4AF9-B411-FA419671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每个季节 6 个习俗主题，采用地域限定表达。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D30D5-2E49-4582-9B21-96A39717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2647950" cy="361950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4F9F5A">
                <a:alpha val="3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68FBA-5865-44C6-95E1-774ABC40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29919-6E14-436F-A973-2CFE5DDD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F9F5A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90EF2-EF2F-4189-8569-79895C6E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咬春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83FE9-432E-4940-ADD8-8C7E335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F9F5A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C2EEE-7C7B-4451-8A73-AB094672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占稻色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68084-FC9D-4F9B-A6CD-8865575B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F9F5A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AE8A9-467F-4749-8797-C7F67365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蒙鼓皮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E5122-D635-4D71-99B5-0D458460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F9F5A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5E092-D2E3-4594-B719-5EF14D6F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竖蛋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40D74-D309-466D-BCA1-6E335B0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F9F5A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8B9D6-AB47-4F94-85B5-74A1551A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放纸鸢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4FAEA-AE28-4766-85EB-938BB231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F9F5A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CC954-3D2E-47FD-9113-41AA2FDA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244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谷雨茶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C0433-995B-4CF1-A3FC-701458D3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14550"/>
            <a:ext cx="2647950" cy="361950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DC8D26">
                <a:alpha val="33333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F98BD-8184-48DD-93F0-E3666E83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86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C8D26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DC8D26"/>
                </a:solidFill>
                <a:latin typeface="STSong"/>
                <a:ea typeface="STSong"/>
                <a:cs typeface="STSong"/>
              </a:rPr>
              <a:t>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27AB9-E5E7-4D1D-B466-CFB4D82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813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C8D26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EC945-9896-4BD2-87B6-51B6D616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28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斗蛋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D51A0-8405-4F6C-B2E8-411ACD15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004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C8D26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C181B-1155-4AFA-BD8E-3E674EB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48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祭车神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0471A1-D743-45D9-AAFA-D315FCE6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195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C8D26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55089B-CD89-49AA-957A-403E02D6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671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收种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DFDD8E-2370-4EF7-9BFF-601F0001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386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C8D26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4A621D-D52F-4E7A-9BEF-74B37E38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86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夏至面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EF81BE-BCA2-42D6-8C75-240FE443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4577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C8D26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B0D45A-3850-404A-8EF4-B2C97CAC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053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晒书衣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176B94-0B01-43B1-BB0F-2FE181F8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8768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C8D26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1EA51E-E74B-4327-8AD8-C0C357F5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244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送大暑船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CB77A7-2B86-423B-907D-07D029B8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647950" cy="361950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D17F2F">
                <a:alpha val="33333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0055ED-72C3-417C-AFA5-C7456087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17F2F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D17F2F"/>
                </a:solidFill>
                <a:latin typeface="STSong"/>
                <a:ea typeface="STSong"/>
                <a:cs typeface="STSong"/>
              </a:rPr>
              <a:t>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1FFA4A-4F30-470A-9ECF-1EA86BCF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17F2F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D61844-15C9-4F75-887D-4AB6EA93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28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晒秋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132933-18B1-4A72-AEB1-CEC5C6E8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17F2F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DD5D5B-A7D4-413C-8C95-2D44DD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放河灯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0197C4-FC1A-46EE-87CB-6996D02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17F2F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3E7741-FC2B-4E2C-BC96-C4D22F7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671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收清露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200B65-1E08-49EC-AD98-108095B9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17F2F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81B077-192A-4F29-AB05-79EBDA68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86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祭月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886DE5-E8CF-4F96-8487-68BB38E7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17F2F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B2628A-D2B7-4300-8238-B39CEF42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053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登高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9DBABC-1265-4D43-ACF4-74EAE770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D17F2F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C01A43-56BE-4BD8-B61D-9D9D988D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244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摘柿子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7D542D-D61F-4758-8D78-DDACC30F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14550"/>
            <a:ext cx="2647950" cy="361950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4C86AD">
                <a:alpha val="33333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9701FA-F42E-4BF3-89AF-55C1CB2D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86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C86AD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4C86AD"/>
                </a:solidFill>
                <a:latin typeface="STSong"/>
                <a:ea typeface="STSong"/>
                <a:cs typeface="STSong"/>
              </a:rPr>
              <a:t>冬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23895B-EC15-4A97-BAFC-4672DB35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813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C86A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245A27-18DD-452F-95F6-36B91E2B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28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包饺子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D37F5E-C313-43BD-A77E-BA7D254D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004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C86A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A1778B-F1CB-4565-A913-447A1564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248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腌腊肉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888F8B-BE5B-4336-A8F2-2408A4E6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195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C86A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1D5972-763A-4BEB-80B6-385BEA1D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6671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扫雪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181810-05C2-4FCC-BA1E-68ECF9D1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386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C86A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ADC419-F8D0-42A4-B8F9-DCD338E2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086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搓汤圆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443964-2C3B-4C52-96F0-10253A70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4577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C86A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A343A5-1881-48CF-A8E4-D7A78331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5053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腊八粥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CBD159-F7CC-48AA-8107-94D456BC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876800"/>
            <a:ext cx="2305050" cy="314325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4C86AD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4F4E70-DE70-4AEC-932E-1CCF9C7E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9244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除尘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D685D7-C805-4F41-9BD6-86270466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习俗具有地域差异，游戏使用“部分地区有……”等限定语。</a:t>
            </a:r>
          </a:p>
        </p:txBody>
      </p:sp>
    </p:spTree>
    <p:extLst>
      <p:ext uri="{BB962C8B-B14F-4D97-AF65-F5344CB8AC3E}">
        <p14:creationId xmlns:p14="http://schemas.microsoft.com/office/powerpoint/2010/main" val="1571138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C99F3-F6D1-486C-AA16-A7A62304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184AC-5218-4FA2-BC0D-67AC085B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反馈与推进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12B23-F8F7-43A0-A77F-C4675D06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71EAA-BCC2-4200-906E-6BC64C4B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A2A2F-91B7-4BA3-B1BC-449DB9B3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PROGRESSION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A82B9-009B-4F9B-B375-4169796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从一块节气碑到整趟四季行旅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AEFEA-6883-407B-B098-B70E459A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星级、章节解锁、存档与通关画面让探索有清晰目标。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A74D3-EBB1-4EBA-951A-BE99345A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3105150" cy="186690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4F9F5A">
              <a:alpha val="9412"/>
            </a:srgbClr>
          </a:solidFill>
          <a:ln xmlns:a="http://schemas.openxmlformats.org/drawingml/2006/main" w="19050">
            <a:solidFill>
              <a:srgbClr val="4F9F5A">
                <a:alpha val="4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37B3F-68E5-4270-8805-4D45F272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节气碑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1D79A-AC2F-4C39-9D1B-9C5DFA9B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完成小游戏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16239-5C73-4BEB-998C-D7838003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43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2025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1—3 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8D31A-4889-4B5A-B776-761A68D5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003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4FB86-B546-406C-A192-151346E2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3105150" cy="186690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C8D26">
              <a:alpha val="9412"/>
            </a:srgbClr>
          </a:solidFill>
          <a:ln xmlns:a="http://schemas.openxmlformats.org/drawingml/2006/main" w="19050">
            <a:solidFill>
              <a:srgbClr val="DC8D26">
                <a:alpha val="4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6E13F-73E9-44C3-BDAA-B09FFE07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8D26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DC8D26"/>
                </a:solidFill>
                <a:latin typeface="STSong"/>
                <a:ea typeface="STSong"/>
                <a:cs typeface="STSong"/>
              </a:rPr>
              <a:t>一季 6 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7FF50-13EC-456E-AD27-90E93CEE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0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点亮季节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932E2-4905-4BBF-AAEC-D15A838F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43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8D26"/>
                </a:solidFill>
                <a:latin typeface="STSong"/>
                <a:ea typeface="STSong"/>
                <a:cs typeface="STSong"/>
              </a:defRPr>
            </a:pPr>
            <a:r>
              <a:rPr sz="2025" b="0">
                <a:solidFill>
                  <a:srgbClr val="DC8D26"/>
                </a:solidFill>
                <a:latin typeface="STSong"/>
                <a:ea typeface="STSong"/>
                <a:cs typeface="STSong"/>
              </a:rPr>
              <a:t>解锁下一季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73742-91C6-483B-9132-12452D23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03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6E946-4E37-4FCF-96D5-F9F3145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3105150" cy="186690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4C86AD">
              <a:alpha val="9412"/>
            </a:srgbClr>
          </a:solidFill>
          <a:ln xmlns:a="http://schemas.openxmlformats.org/drawingml/2006/main" w="19050">
            <a:solidFill>
              <a:srgbClr val="4C86AD">
                <a:alpha val="4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E74F4-C46D-49D2-8440-8EC9D62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86AD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4C86AD"/>
                </a:solidFill>
                <a:latin typeface="STSong"/>
                <a:ea typeface="STSong"/>
                <a:cs typeface="STSong"/>
              </a:rPr>
              <a:t>四季 24 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506CB-5965-48D0-BE6F-0675F451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四季通关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C08A0-EC2C-4D7A-AA36-F704FA3B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43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C86AD"/>
                </a:solidFill>
                <a:latin typeface="STSong"/>
                <a:ea typeface="STSong"/>
                <a:cs typeface="STSong"/>
              </a:defRPr>
            </a:pPr>
            <a:r>
              <a:rPr sz="2025" b="0">
                <a:solidFill>
                  <a:srgbClr val="4C86AD"/>
                </a:solidFill>
                <a:latin typeface="STSong"/>
                <a:ea typeface="STSong"/>
                <a:cs typeface="STSong"/>
              </a:rPr>
              <a:t>24 / 24 · 72 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1D13A-F4BC-45C7-A2D9-F02539F9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localStorage 保存完成状态、星级、最佳成绩、当前季节与章节状态。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E67AC-0016-4622-A683-71297A04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4EA"/>
          </a:solidFill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14BAEE-6003-4E6A-B6A6-DEC05D3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刷新可继续  ·  通关可重走  ·  无登录  ·  无上传</a:t>
            </a:r>
          </a:p>
        </p:txBody>
      </p:sp>
    </p:spTree>
    <p:extLst>
      <p:ext uri="{BB962C8B-B14F-4D97-AF65-F5344CB8AC3E}">
        <p14:creationId xmlns:p14="http://schemas.microsoft.com/office/powerpoint/2010/main" val="17565282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43CB2-E6E9-4FCB-99FB-B2988403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64448-819B-4A67-AD5A-0BCF0183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98010-7541-4FA8-8F42-F360AC25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34CC6-B466-4D3E-8168-19734732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FA2E5-675A-4C86-B6F1-586BB79F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TECH &amp;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D9C65-54FD-4FFD-B1A9-9BEDCA5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同一套纯前端引擎，电脑和手机都能玩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677BE-823D-4127-97AC-67D88F1B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不依赖专用硬件、外部 AI API 或第三方运行时。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D51C0-BBC8-4A9F-B59E-E2602188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53340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4F9F5A">
                <a:alpha val="3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59849-7A4F-40DA-85D2-051CA5B5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HTML5 Canvas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7CC25-F69A-4A99-974D-7704D7AA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地图、角色、天气、小游戏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C1068-27F7-4B3A-A765-24E2F741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3340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DC8D26">
                <a:alpha val="3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500EB-4943-42B6-A75A-F72A80FF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8D26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DC8D26"/>
                </a:solidFill>
                <a:latin typeface="STSong"/>
                <a:ea typeface="STSong"/>
                <a:cs typeface="STSong"/>
              </a:rPr>
              <a:t>原生 JavaScript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51E5F-896F-43AE-88D5-B75A99DB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384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状态机、移动、评分、存档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CABC0-36D3-4538-974A-E47AB7C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53340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D17F2F">
                <a:alpha val="3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FE0CA-8A3D-43B9-B3D8-D5FD9CA8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17F2F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D17F2F"/>
                </a:solidFill>
                <a:latin typeface="STSong"/>
                <a:ea typeface="STSong"/>
                <a:cs typeface="STSong"/>
              </a:rPr>
              <a:t>CSS3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AB4CA-2263-45ED-95AC-9BEA6A46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明亮 HUD、菜单、触屏控件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97F42-1528-477E-8C10-F4BC3B40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53340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EF8"/>
          </a:solidFill>
          <a:ln xmlns:a="http://schemas.openxmlformats.org/drawingml/2006/main" w="19050">
            <a:solidFill>
              <a:srgbClr val="4C86AD">
                <a:alpha val="3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587C8-78C9-4E7F-88C3-3EE076C5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86AD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4C86AD"/>
                </a:solidFill>
                <a:latin typeface="STSong"/>
                <a:ea typeface="STSong"/>
                <a:cs typeface="STSong"/>
              </a:rPr>
              <a:t>localStorage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1B00C-CCB5-44D3-9F88-E2B69E69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完成度、星级与季节进度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5ADA2-6FA1-4674-8099-ED19668D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6680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8EE"/>
          </a:solidFill>
          <a:ln xmlns:a="http://schemas.openxmlformats.org/drawingml/2006/main" w="9525">
            <a:solidFill>
              <a:srgbClr val="D8E7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0738A-A7D2-40AA-95B0-553E09B7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F9F5A"/>
                </a:solidFill>
                <a:latin typeface="Microsoft YaHei"/>
                <a:ea typeface="Microsoft YaHei"/>
                <a:cs typeface="Microsoft YaHei"/>
              </a:rPr>
              <a:t>无第三方运行时库  ·  单文件离线版无网络请求  ·  390px 无横向溢出</a:t>
            </a:r>
          </a:p>
        </p:txBody>
      </p:sp>
    </p:spTree>
    <p:extLst>
      <p:ext uri="{BB962C8B-B14F-4D97-AF65-F5344CB8AC3E}">
        <p14:creationId xmlns:p14="http://schemas.microsoft.com/office/powerpoint/2010/main" val="17772742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4152D5-6AA4-4F2D-915E-29BB5FA6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496EB-AD54-454B-BDE4-A4941065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原创与声明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82AF9-5DFD-4657-A772-D0CF9E62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B5082-92BD-4A0B-9B17-59C3E5D9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5CD59-9B55-45CE-BCFC-2CEABD28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953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ORIGINALITY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A8F8D-093C-4F59-BFE5-44889414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从节气图式到可触摸的时间经验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2A0DB-3C9F-405D-BF87-26E96880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游戏机制、场景与角色不以节气物象拼贴替代设计。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D77DB-DC66-4DFB-8D73-CF85815D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269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657269"/>
                </a:solidFill>
                <a:latin typeface="STSong"/>
                <a:ea typeface="STSong"/>
                <a:cs typeface="STSong"/>
              </a:rPr>
              <a:t>静态节气物象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224B5-F42C-4EC5-89E1-8CDC89E3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节气行旅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0AFB3-98B8-414B-8C76-36EA72F9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0500A-1AAE-46BE-951C-F4E4F53E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860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图片 / 卡片 / 长页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35538-CAC5-4E15-8CFF-2DCAD6ED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860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4 张可走地图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3C6E6-22BD-4CFC-8EAB-50799AF0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48025"/>
            <a:ext cx="485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60C8D-ADA4-49DE-BC87-753CAAF2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485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6A9C5-978F-401E-AC92-A3B23D02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D77C0-968F-407F-A03B-52D47C57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阅读和点选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ABA2D-3944-4665-B07E-5ED7D8A3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移动、靠近、互动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BF62C-2DA0-4216-A07B-F1793554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485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AFDA3-7B70-486C-AEC3-C8A87F18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38575"/>
            <a:ext cx="485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F58A7-06AF-44E4-9EB3-527E7821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CA742-2C6A-4D95-A10C-4C10066E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671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积分 / 答题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11414-6750-49E9-B35C-D4D853DB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671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星级 / 章节 / 通关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F0E5A-91C5-46EC-98BE-FD2832BE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485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F375E-D0A4-4A3D-97C7-52DC0F52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29125"/>
            <a:ext cx="485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FB176-B150-4801-BD93-C6A96164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表达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4283C-26F5-45D1-8DE8-59B812A8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577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物象装饰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F7F9F-5DFB-4EDC-9406-42EFFBCC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天气、习俗行为、空间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85459-7961-49CF-82A4-6B74999D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485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C65B0-DDAF-42C0-8CA7-1F7CA770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485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BCD1F-C44B-4189-81C7-11C7DC51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10668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BEDE7"/>
          </a:solidFill>
          <a:ln xmlns:a="http://schemas.openxmlformats.org/drawingml/2006/main" w="9525">
            <a:solidFill>
              <a:srgbClr val="E9B7A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8B0109-EACB-43EF-AD95-E94C1849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51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513E"/>
                </a:solidFill>
                <a:latin typeface="Microsoft YaHei"/>
                <a:ea typeface="Microsoft YaHei"/>
                <a:cs typeface="Microsoft YaHei"/>
              </a:rPr>
              <a:t>AI 辅助设计声明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6CD518-91FF-4A28-94EB-556E9411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6342D"/>
                </a:solidFill>
                <a:latin typeface="Microsoft YaHei"/>
                <a:ea typeface="Microsoft YaHei"/>
                <a:cs typeface="Microsoft YaHei"/>
              </a:rPr>
              <a:t>代码、文案、版面与测试脚本由 AI 协助生成初稿；学生完成赛项适配、试玩、文化核验与最终验收。AI 不参与游戏运行。</a:t>
            </a:r>
          </a:p>
        </p:txBody>
      </p:sp>
    </p:spTree>
    <p:extLst>
      <p:ext uri="{BB962C8B-B14F-4D97-AF65-F5344CB8AC3E}">
        <p14:creationId xmlns:p14="http://schemas.microsoft.com/office/powerpoint/2010/main" val="16314295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CEFDE-2033-4F1F-996B-E58E4A30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F5469-20D6-4528-B3B1-8BE3683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B98127"/>
                </a:solidFill>
                <a:latin typeface="Microsoft YaHei"/>
                <a:ea typeface="Microsoft YaHei"/>
                <a:cs typeface="Microsoft YaHei"/>
              </a:rPr>
              <a:t>四季通关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50796-2F4F-41DA-AF40-F8EFA376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F4FE4-AAEB-4439-BBF1-BD600755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6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E17BE-3C13-4B34-BB28-BB650197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8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触摸时间，</a:t>
            </a:r>
          </a:p>
          <a:p xmlns:a="http://schemas.openxmlformats.org/drawingml/2006/main">
            <a:pPr algn="l">
              <a:defRPr sz="2850" b="0">
                <a:solidFill>
                  <a:srgbClr val="26342D"/>
                </a:solidFill>
                <a:latin typeface="STSong"/>
                <a:ea typeface="STSong"/>
                <a:cs typeface="STSong"/>
              </a:defRPr>
            </a:pPr>
            <a:r>
              <a:rPr sz="2850" b="0">
                <a:solidFill>
                  <a:srgbClr val="26342D"/>
                </a:solidFill>
                <a:latin typeface="STSong"/>
                <a:ea typeface="STSong"/>
                <a:cs typeface="STSong"/>
              </a:rPr>
              <a:t>让节气重新行走。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C1D0F-559E-4C29-A18A-ED0116D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69"/>
                </a:solidFill>
                <a:latin typeface="Microsoft YaHei"/>
                <a:ea typeface="Microsoft YaHei"/>
                <a:cs typeface="Microsoft YaHei"/>
              </a:rPr>
              <a:t>24 个节气碑 · 72 颗行旅星 · 四季天气与习俗小游戏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0916bac0845b1"/>
          <a:stretch xmlns:a="http://schemas.openxmlformats.org/drawingml/2006/main"/>
        </p:blipFill>
        <p:spPr>
          <a:xfrm xmlns:a="http://schemas.openxmlformats.org/drawingml/2006/main">
            <a:off x="5905500" y="876829"/>
            <a:ext cx="5334000" cy="3704167"/>
          </a:xfrm>
          <a:prstGeom xmlns:a="http://schemas.openxmlformats.org/drawingml/2006/main" prst="roundRect">
            <a:avLst>
              <a:gd name="adj" fmla="val 411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A2482-0EF0-44FE-9FD5-83C581ED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4F9F5A"/>
                </a:solidFill>
                <a:latin typeface="STSong"/>
                <a:ea typeface="STSong"/>
                <a:cs typeface="STSong"/>
              </a:defRPr>
            </a:pPr>
            <a:r>
              <a:rPr sz="3150" b="0">
                <a:solidFill>
                  <a:srgbClr val="4F9F5A"/>
                </a:solidFill>
                <a:latin typeface="STSong"/>
                <a:ea typeface="STSong"/>
                <a:cs typeface="STSong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F54DA-BA7A-4CB9-9507-014F404B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季节地图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A6C20-5843-4CC2-A172-054F0D5C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57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DC8D26"/>
                </a:solidFill>
                <a:latin typeface="STSong"/>
                <a:ea typeface="STSong"/>
                <a:cs typeface="STSong"/>
              </a:defRPr>
            </a:pPr>
            <a:r>
              <a:rPr sz="3150" b="0">
                <a:solidFill>
                  <a:srgbClr val="DC8D26"/>
                </a:solidFill>
                <a:latin typeface="STSong"/>
                <a:ea typeface="STSong"/>
                <a:cs typeface="STSong"/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FDFC5-2163-430A-B078-C028347D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节气碑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54505-69F3-4FAB-8D75-30B6599B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57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D17F2F"/>
                </a:solidFill>
                <a:latin typeface="STSong"/>
                <a:ea typeface="STSong"/>
                <a:cs typeface="STSong"/>
              </a:defRPr>
            </a:pPr>
            <a:r>
              <a:rPr sz="3150" b="0">
                <a:solidFill>
                  <a:srgbClr val="D17F2F"/>
                </a:solidFill>
                <a:latin typeface="STSong"/>
                <a:ea typeface="STSong"/>
                <a:cs typeface="STSong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A97BC-C22F-45E7-AD85-5B2752C0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43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9928B"/>
                </a:solidFill>
                <a:latin typeface="Microsoft YaHei"/>
                <a:ea typeface="Microsoft YaHei"/>
                <a:cs typeface="Microsoft YaHei"/>
              </a:rPr>
              <a:t>类小游戏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6A12C-4EDA-4502-9B37-D69E2E70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8127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B98127"/>
                </a:solidFill>
                <a:latin typeface="STSong"/>
                <a:ea typeface="STSong"/>
                <a:cs typeface="STSong"/>
              </a:rPr>
              <a:t>观天有度，识候有信；走近习俗，也走进时间。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34633-FB63-4DCB-8BAF-71E7C546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81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7956E-88DB-4CC9-8734-96C0675C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007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751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C7513E"/>
                </a:solidFill>
                <a:latin typeface="Microsoft YaHei"/>
                <a:ea typeface="Microsoft YaHei"/>
                <a:cs typeface="Microsoft YaHei"/>
              </a:rPr>
              <a:t>AI 辅助设计：代码 / 文案 / 版面初稿；学生完成试玩、文化核验与验收。</a:t>
            </a:r>
          </a:p>
        </p:txBody>
      </p:sp>
    </p:spTree>
    <p:extLst>
      <p:ext uri="{BB962C8B-B14F-4D97-AF65-F5344CB8AC3E}">
        <p14:creationId xmlns:p14="http://schemas.microsoft.com/office/powerpoint/2010/main" val="1994991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2026-10-25T15:08:25.9320000Z</dcterms:created>
  <dcterms:modified xsi:type="dcterms:W3CDTF">2026-10-25T15:08:25.9320000Z</dcterms:modified>
</coreProperties>
</file>